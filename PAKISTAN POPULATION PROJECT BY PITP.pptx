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sldIdLst>
    <p:sldId id="292" r:id="rId2"/>
    <p:sldId id="261" r:id="rId3"/>
    <p:sldId id="263" r:id="rId4"/>
    <p:sldId id="262" r:id="rId5"/>
    <p:sldId id="264" r:id="rId6"/>
    <p:sldId id="315" r:id="rId7"/>
    <p:sldId id="265" r:id="rId8"/>
    <p:sldId id="314" r:id="rId9"/>
    <p:sldId id="290" r:id="rId10"/>
    <p:sldId id="316" r:id="rId11"/>
    <p:sldId id="308" r:id="rId12"/>
    <p:sldId id="309" r:id="rId13"/>
    <p:sldId id="310" r:id="rId14"/>
    <p:sldId id="311" r:id="rId15"/>
    <p:sldId id="312" r:id="rId16"/>
    <p:sldId id="313" r:id="rId17"/>
    <p:sldId id="266" r:id="rId18"/>
    <p:sldId id="267" r:id="rId19"/>
    <p:sldId id="268" r:id="rId20"/>
    <p:sldId id="293" r:id="rId21"/>
    <p:sldId id="269" r:id="rId22"/>
    <p:sldId id="294" r:id="rId23"/>
    <p:sldId id="270" r:id="rId24"/>
    <p:sldId id="295" r:id="rId25"/>
    <p:sldId id="271" r:id="rId26"/>
    <p:sldId id="296" r:id="rId27"/>
    <p:sldId id="272" r:id="rId28"/>
    <p:sldId id="297" r:id="rId29"/>
    <p:sldId id="273" r:id="rId30"/>
    <p:sldId id="276" r:id="rId31"/>
    <p:sldId id="298" r:id="rId32"/>
    <p:sldId id="274" r:id="rId33"/>
    <p:sldId id="299" r:id="rId34"/>
    <p:sldId id="300" r:id="rId35"/>
    <p:sldId id="275" r:id="rId36"/>
    <p:sldId id="277" r:id="rId37"/>
    <p:sldId id="301" r:id="rId38"/>
    <p:sldId id="302" r:id="rId39"/>
    <p:sldId id="278" r:id="rId40"/>
    <p:sldId id="304" r:id="rId41"/>
    <p:sldId id="279" r:id="rId42"/>
    <p:sldId id="303" r:id="rId43"/>
    <p:sldId id="280" r:id="rId44"/>
    <p:sldId id="305" r:id="rId45"/>
    <p:sldId id="281" r:id="rId46"/>
    <p:sldId id="306" r:id="rId47"/>
    <p:sldId id="282" r:id="rId48"/>
    <p:sldId id="283" r:id="rId49"/>
    <p:sldId id="284" r:id="rId50"/>
    <p:sldId id="307" r:id="rId51"/>
    <p:sldId id="285" r:id="rId52"/>
    <p:sldId id="286" r:id="rId53"/>
    <p:sldId id="287" r:id="rId54"/>
    <p:sldId id="288" r:id="rId55"/>
    <p:sldId id="289" r:id="rId56"/>
    <p:sldId id="291" r:id="rId57"/>
    <p:sldId id="317" r:id="rId5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p:scale>
          <a:sx n="66" d="100"/>
          <a:sy n="66" d="100"/>
        </p:scale>
        <p:origin x="-1506" y="-13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2">
        <a:schemeClr val="bg2"/>
      </p:bgRef>
    </p:bg>
    <p:spTree>
      <p:nvGrpSpPr>
        <p:cNvPr id="1" name=""/>
        <p:cNvGrpSpPr/>
        <p:nvPr/>
      </p:nvGrpSpPr>
      <p:grpSpPr>
        <a:xfrm>
          <a:off x="0" y="0"/>
          <a:ext cx="0" cy="0"/>
          <a:chOff x="0" y="0"/>
          <a:chExt cx="0" cy="0"/>
        </a:xfrm>
      </p:grpSpPr>
      <p:sp>
        <p:nvSpPr>
          <p:cNvPr id="9" name="Title 8"/>
          <p:cNvSpPr>
            <a:spLocks noGrp="1"/>
          </p:cNvSpPr>
          <p:nvPr>
            <p:ph type="ctrTitle"/>
          </p:nvPr>
        </p:nvSpPr>
        <p:spPr>
          <a:xfrm>
            <a:off x="533400" y="1371600"/>
            <a:ext cx="7851648"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17" name="Subtitle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30" name="Date Placeholder 29"/>
          <p:cNvSpPr>
            <a:spLocks noGrp="1"/>
          </p:cNvSpPr>
          <p:nvPr>
            <p:ph type="dt" sz="half" idx="10"/>
          </p:nvPr>
        </p:nvSpPr>
        <p:spPr/>
        <p:txBody>
          <a:bodyPr/>
          <a:lstStyle/>
          <a:p>
            <a:fld id="{C3BD8361-D2EF-4382-9F33-00A7C410CD5C}" type="datetimeFigureOut">
              <a:rPr lang="en-US" smtClean="0"/>
              <a:t>11/13/2025</a:t>
            </a:fld>
            <a:endParaRPr lang="en-US"/>
          </a:p>
        </p:txBody>
      </p:sp>
      <p:sp>
        <p:nvSpPr>
          <p:cNvPr id="19" name="Footer Placeholder 18"/>
          <p:cNvSpPr>
            <a:spLocks noGrp="1"/>
          </p:cNvSpPr>
          <p:nvPr>
            <p:ph type="ftr" sz="quarter" idx="11"/>
          </p:nvPr>
        </p:nvSpPr>
        <p:spPr/>
        <p:txBody>
          <a:bodyPr/>
          <a:lstStyle/>
          <a:p>
            <a:endParaRPr lang="en-US"/>
          </a:p>
        </p:txBody>
      </p:sp>
      <p:sp>
        <p:nvSpPr>
          <p:cNvPr id="27" name="Slide Number Placeholder 26"/>
          <p:cNvSpPr>
            <a:spLocks noGrp="1"/>
          </p:cNvSpPr>
          <p:nvPr>
            <p:ph type="sldNum" sz="quarter" idx="12"/>
          </p:nvPr>
        </p:nvSpPr>
        <p:spPr/>
        <p:txBody>
          <a:bodyPr/>
          <a:lstStyle/>
          <a:p>
            <a:fld id="{10CAD694-0CE3-4329-9AFA-CA9BCFCE46ED}" type="slidenum">
              <a:rPr lang="en-US" smtClean="0"/>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C3BD8361-D2EF-4382-9F33-00A7C410CD5C}" type="datetimeFigureOut">
              <a:rPr lang="en-US" smtClean="0"/>
              <a:t>11/13/2025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0CAD694-0CE3-4329-9AFA-CA9BCFCE46ED}"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30352" y="1316736"/>
            <a:ext cx="777240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530352" y="2704664"/>
            <a:ext cx="7772400" cy="1509712"/>
          </a:xfrm>
        </p:spPr>
        <p:txBody>
          <a:bodyPr lIns="45720" rIns="4572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C3BD8361-D2EF-4382-9F33-00A7C410CD5C}" type="datetimeFigureOut">
              <a:rPr lang="en-US" smtClean="0"/>
              <a:t>11/13/2025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0CAD694-0CE3-4329-9AFA-CA9BCFCE46ED}" type="slidenum">
              <a:rPr lang="en-US" smtClean="0"/>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C3BD8361-D2EF-4382-9F33-00A7C410CD5C}" type="datetimeFigureOut">
              <a:rPr lang="en-US" smtClean="0"/>
              <a:t>11/13/2025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0CAD694-0CE3-4329-9AFA-CA9BCFCE46ED}"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tIns="45720" anchor="b"/>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C3BD8361-D2EF-4382-9F33-00A7C410CD5C}" type="datetimeFigureOut">
              <a:rPr lang="en-US" smtClean="0"/>
              <a:t>11/13/2025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0CAD694-0CE3-4329-9AFA-CA9BCFCE46ED}"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305800" cy="1143000"/>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C3BD8361-D2EF-4382-9F33-00A7C410CD5C}" type="datetimeFigureOut">
              <a:rPr lang="en-US" smtClean="0"/>
              <a:t>11/13/2025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0CAD694-0CE3-4329-9AFA-CA9BCFCE46ED}"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3BD8361-D2EF-4382-9F33-00A7C410CD5C}" type="datetimeFigureOut">
              <a:rPr lang="en-US" smtClean="0"/>
              <a:t>11/13/2025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0CAD694-0CE3-4329-9AFA-CA9BCFCE46ED}"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514352"/>
            <a:ext cx="2743200" cy="1162050"/>
          </a:xfrm>
        </p:spPr>
        <p:txBody>
          <a:bodyPr lIns="0" anchor="b">
            <a:noAutofit/>
          </a:bodyPr>
          <a:lstStyle>
            <a:lvl1pPr algn="l" rtl="0">
              <a:spcBef>
                <a:spcPct val="0"/>
              </a:spcBef>
              <a:buNone/>
              <a:defRPr sz="26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C3BD8361-D2EF-4382-9F33-00A7C410CD5C}" type="datetimeFigureOut">
              <a:rPr lang="en-US" smtClean="0"/>
              <a:t>11/13/2025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0CAD694-0CE3-4329-9AFA-CA9BCFCE46ED}"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nip and Round Single Corner Rectangle 8"/>
          <p:cNvSpPr/>
          <p:nvPr/>
        </p:nvSpPr>
        <p:spPr>
          <a:xfrm rot="420000" flipV="1">
            <a:off x="3165753" y="1108077"/>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2" name="Right Triangle 11"/>
          <p:cNvSpPr/>
          <p:nvPr/>
        </p:nvSpPr>
        <p:spPr>
          <a:xfrm rot="420000" flipV="1">
            <a:off x="8004134" y="5359769"/>
            <a:ext cx="155448"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title"/>
          </p:nvPr>
        </p:nvSpPr>
        <p:spPr>
          <a:xfrm>
            <a:off x="609600" y="1176996"/>
            <a:ext cx="2212848" cy="1582621"/>
          </a:xfrm>
        </p:spPr>
        <p:txBody>
          <a:bodyPr vert="horz" lIns="45720" tIns="45720" rIns="45720" bIns="45720" anchor="b"/>
          <a:lstStyle>
            <a:lvl1pPr algn="l">
              <a:buNone/>
              <a:defRPr sz="2000" b="1">
                <a:solidFill>
                  <a:schemeClr val="tx2"/>
                </a:solidFill>
              </a:defRPr>
            </a:lvl1pPr>
          </a:lstStyle>
          <a:p>
            <a:r>
              <a:rPr kumimoji="0" lang="en-US" smtClean="0"/>
              <a:t>Click to edit Master title style</a:t>
            </a:r>
            <a:endParaRPr kumimoji="0" lang="en-US"/>
          </a:p>
        </p:txBody>
      </p:sp>
      <p:sp>
        <p:nvSpPr>
          <p:cNvPr id="4" name="Text Placeholder 3"/>
          <p:cNvSpPr>
            <a:spLocks noGrp="1"/>
          </p:cNvSpPr>
          <p:nvPr>
            <p:ph type="body" sz="half" idx="2"/>
          </p:nvPr>
        </p:nvSpPr>
        <p:spPr>
          <a:xfrm>
            <a:off x="609600" y="2828785"/>
            <a:ext cx="2209800" cy="2179320"/>
          </a:xfrm>
        </p:spPr>
        <p:txBody>
          <a:bodyPr lIns="64008" rIns="45720" bIns="45720" anchor="t"/>
          <a:lstStyle>
            <a:lvl1pPr marL="0" indent="0" algn="l">
              <a:spcBef>
                <a:spcPts val="250"/>
              </a:spcBef>
              <a:buFontTx/>
              <a:buNone/>
              <a:defRPr sz="13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C3BD8361-D2EF-4382-9F33-00A7C410CD5C}" type="datetimeFigureOut">
              <a:rPr lang="en-US" smtClean="0"/>
              <a:t>11/13/2025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8077200" y="6356350"/>
            <a:ext cx="609600" cy="365125"/>
          </a:xfrm>
        </p:spPr>
        <p:txBody>
          <a:bodyPr/>
          <a:lstStyle/>
          <a:p>
            <a:fld id="{10CAD694-0CE3-4329-9AFA-CA9BCFCE46ED}" type="slidenum">
              <a:rPr lang="en-US" smtClean="0"/>
              <a:t>‹#›</a:t>
            </a:fld>
            <a:endParaRPr lang="en-US"/>
          </a:p>
        </p:txBody>
      </p:sp>
      <p:sp>
        <p:nvSpPr>
          <p:cNvPr id="3" name="Picture Placeholder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lstStyle>
            <a:lvl1pPr marL="0" indent="0">
              <a:buNone/>
              <a:defRPr sz="3200"/>
            </a:lvl1pPr>
          </a:lstStyle>
          <a:p>
            <a:r>
              <a:rPr kumimoji="0" lang="en-US" smtClean="0"/>
              <a:t>Click icon to add picture</a:t>
            </a:r>
            <a:endParaRPr kumimoji="0" lang="en-US" dirty="0"/>
          </a:p>
        </p:txBody>
      </p:sp>
      <p:sp>
        <p:nvSpPr>
          <p:cNvPr id="10" name="Freeform 9"/>
          <p:cNvSpPr>
            <a:spLocks/>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11" name="Freeform 10"/>
          <p:cNvSpPr>
            <a:spLocks/>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C3BD8361-D2EF-4382-9F33-00A7C410CD5C}" type="datetimeFigureOut">
              <a:rPr lang="en-US" smtClean="0"/>
              <a:t>11/13/2025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0CAD694-0CE3-4329-9AFA-CA9BCFCE46ED}"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914401"/>
            <a:ext cx="2057400" cy="5211763"/>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914401"/>
            <a:ext cx="6019800" cy="5211763"/>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C3BD8361-D2EF-4382-9F33-00A7C410CD5C}" type="datetimeFigureOut">
              <a:rPr lang="en-US" smtClean="0"/>
              <a:t>11/13/2025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0CAD694-0CE3-4329-9AFA-CA9BCFCE46ED}"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Freeform 6"/>
          <p:cNvSpPr>
            <a:spLocks/>
          </p:cNvSpPr>
          <p:nvPr/>
        </p:nvSpPr>
        <p:spPr bwMode="auto">
          <a:xfrm>
            <a:off x="-9525" y="-7144"/>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8" name="Freeform 7"/>
          <p:cNvSpPr>
            <a:spLocks/>
          </p:cNvSpPr>
          <p:nvPr/>
        </p:nvSpPr>
        <p:spPr bwMode="auto">
          <a:xfrm>
            <a:off x="4381500" y="-7144"/>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9" name="Title Placeholder 8"/>
          <p:cNvSpPr>
            <a:spLocks noGrp="1"/>
          </p:cNvSpPr>
          <p:nvPr>
            <p:ph type="title"/>
          </p:nvPr>
        </p:nvSpPr>
        <p:spPr>
          <a:xfrm>
            <a:off x="457200" y="704088"/>
            <a:ext cx="8229600" cy="1143000"/>
          </a:xfrm>
          <a:prstGeom prst="rect">
            <a:avLst/>
          </a:prstGeom>
        </p:spPr>
        <p:txBody>
          <a:bodyPr vert="horz" lIns="0" rIns="0" bIns="0" anchor="b">
            <a:normAutofit/>
          </a:bodyPr>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935480"/>
            <a:ext cx="8229600" cy="4389120"/>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fld id="{C3BD8361-D2EF-4382-9F33-00A7C410CD5C}" type="datetimeFigureOut">
              <a:rPr lang="en-US" smtClean="0"/>
              <a:t>11/13/2025</a:t>
            </a:fld>
            <a:endParaRPr lang="en-US"/>
          </a:p>
        </p:txBody>
      </p:sp>
      <p:sp>
        <p:nvSpPr>
          <p:cNvPr id="22" name="Footer Placeholder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endParaRPr lang="en-US"/>
          </a:p>
        </p:txBody>
      </p:sp>
      <p:sp>
        <p:nvSpPr>
          <p:cNvPr id="18" name="Slide Number Placeholder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fld id="{10CAD694-0CE3-4329-9AFA-CA9BCFCE46ED}" type="slidenum">
              <a:rPr lang="en-US" smtClean="0"/>
              <a:t>‹#›</a:t>
            </a:fld>
            <a:endParaRPr lang="en-US"/>
          </a:p>
        </p:txBody>
      </p:sp>
      <p:grpSp>
        <p:nvGrpSpPr>
          <p:cNvPr id="2" name="Group 1"/>
          <p:cNvGrpSpPr/>
          <p:nvPr/>
        </p:nvGrpSpPr>
        <p:grpSpPr>
          <a:xfrm>
            <a:off x="-19017" y="202408"/>
            <a:ext cx="9180548" cy="649224"/>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gr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l" rtl="0" eaLnBrk="1" latinLnBrk="0" hangingPunct="1">
        <a:spcBef>
          <a:spcPct val="0"/>
        </a:spcBef>
        <a:buNone/>
        <a:defRPr kumimoji="0" sz="5000" b="0" kern="1200">
          <a:ln>
            <a:noFill/>
          </a:ln>
          <a:solidFill>
            <a:schemeClr val="tx2"/>
          </a:solidFill>
          <a:effectLst/>
          <a:latin typeface="+mj-lt"/>
          <a:ea typeface="+mj-ea"/>
          <a:cs typeface="+mj-cs"/>
        </a:defRPr>
      </a:lvl1pPr>
    </p:titleStyle>
    <p:body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0600" y="1447800"/>
            <a:ext cx="6965245" cy="4745018"/>
          </a:xfrm>
        </p:spPr>
        <p:txBody>
          <a:bodyPr>
            <a:normAutofit fontScale="90000"/>
          </a:bodyPr>
          <a:lstStyle/>
          <a:p>
            <a:r>
              <a:rPr lang="en-US" b="1" cap="all" dirty="0">
                <a:ln w="0"/>
                <a:gradFill flip="none">
                  <a:gsLst>
                    <a:gs pos="0">
                      <a:schemeClr val="accent1">
                        <a:tint val="75000"/>
                        <a:shade val="75000"/>
                        <a:satMod val="170000"/>
                      </a:schemeClr>
                    </a:gs>
                    <a:gs pos="49000">
                      <a:schemeClr val="accent1">
                        <a:tint val="88000"/>
                        <a:shade val="65000"/>
                        <a:satMod val="172000"/>
                      </a:schemeClr>
                    </a:gs>
                    <a:gs pos="50000">
                      <a:schemeClr val="accent1">
                        <a:shade val="65000"/>
                        <a:satMod val="130000"/>
                      </a:schemeClr>
                    </a:gs>
                    <a:gs pos="92000">
                      <a:schemeClr val="accent1">
                        <a:shade val="50000"/>
                        <a:satMod val="120000"/>
                      </a:schemeClr>
                    </a:gs>
                    <a:gs pos="100000">
                      <a:schemeClr val="accent1">
                        <a:shade val="48000"/>
                        <a:satMod val="120000"/>
                      </a:schemeClr>
                    </a:gs>
                  </a:gsLst>
                  <a:lin ang="5400000"/>
                </a:gradFill>
                <a:effectLst>
                  <a:reflection blurRad="12700" stA="50000" endPos="50000" dist="5000" dir="5400000" sy="-100000" rotWithShape="0"/>
                </a:effectLst>
                <a:latin typeface="Bahnschrift Condensed" panose="020B0502040204020203" pitchFamily="34" charset="0"/>
              </a:rPr>
              <a:t>NAME : MAIRAJ E MUSTAFA</a:t>
            </a:r>
            <a:br>
              <a:rPr lang="en-US" b="1" cap="all" dirty="0">
                <a:ln w="0"/>
                <a:gradFill flip="none">
                  <a:gsLst>
                    <a:gs pos="0">
                      <a:schemeClr val="accent1">
                        <a:tint val="75000"/>
                        <a:shade val="75000"/>
                        <a:satMod val="170000"/>
                      </a:schemeClr>
                    </a:gs>
                    <a:gs pos="49000">
                      <a:schemeClr val="accent1">
                        <a:tint val="88000"/>
                        <a:shade val="65000"/>
                        <a:satMod val="172000"/>
                      </a:schemeClr>
                    </a:gs>
                    <a:gs pos="50000">
                      <a:schemeClr val="accent1">
                        <a:shade val="65000"/>
                        <a:satMod val="130000"/>
                      </a:schemeClr>
                    </a:gs>
                    <a:gs pos="92000">
                      <a:schemeClr val="accent1">
                        <a:shade val="50000"/>
                        <a:satMod val="120000"/>
                      </a:schemeClr>
                    </a:gs>
                    <a:gs pos="100000">
                      <a:schemeClr val="accent1">
                        <a:shade val="48000"/>
                        <a:satMod val="120000"/>
                      </a:schemeClr>
                    </a:gs>
                  </a:gsLst>
                  <a:lin ang="5400000"/>
                </a:gradFill>
                <a:effectLst>
                  <a:reflection blurRad="12700" stA="50000" endPos="50000" dist="5000" dir="5400000" sy="-100000" rotWithShape="0"/>
                </a:effectLst>
                <a:latin typeface="Bahnschrift Condensed" panose="020B0502040204020203" pitchFamily="34" charset="0"/>
              </a:rPr>
            </a:br>
            <a:r>
              <a:rPr lang="en-US" b="1" cap="all" dirty="0">
                <a:ln w="0"/>
                <a:gradFill flip="none">
                  <a:gsLst>
                    <a:gs pos="0">
                      <a:schemeClr val="accent1">
                        <a:tint val="75000"/>
                        <a:shade val="75000"/>
                        <a:satMod val="170000"/>
                      </a:schemeClr>
                    </a:gs>
                    <a:gs pos="49000">
                      <a:schemeClr val="accent1">
                        <a:tint val="88000"/>
                        <a:shade val="65000"/>
                        <a:satMod val="172000"/>
                      </a:schemeClr>
                    </a:gs>
                    <a:gs pos="50000">
                      <a:schemeClr val="accent1">
                        <a:shade val="65000"/>
                        <a:satMod val="130000"/>
                      </a:schemeClr>
                    </a:gs>
                    <a:gs pos="92000">
                      <a:schemeClr val="accent1">
                        <a:shade val="50000"/>
                        <a:satMod val="120000"/>
                      </a:schemeClr>
                    </a:gs>
                    <a:gs pos="100000">
                      <a:schemeClr val="accent1">
                        <a:shade val="48000"/>
                        <a:satMod val="120000"/>
                      </a:schemeClr>
                    </a:gs>
                  </a:gsLst>
                  <a:lin ang="5400000"/>
                </a:gradFill>
                <a:effectLst>
                  <a:reflection blurRad="12700" stA="50000" endPos="50000" dist="5000" dir="5400000" sy="-100000" rotWithShape="0"/>
                </a:effectLst>
                <a:latin typeface="Bahnschrift Condensed" panose="020B0502040204020203" pitchFamily="34" charset="0"/>
              </a:rPr>
              <a:t>FATHER NAME : JAVED ALI</a:t>
            </a:r>
            <a:br>
              <a:rPr lang="en-US" b="1" cap="all" dirty="0">
                <a:ln w="0"/>
                <a:gradFill flip="none">
                  <a:gsLst>
                    <a:gs pos="0">
                      <a:schemeClr val="accent1">
                        <a:tint val="75000"/>
                        <a:shade val="75000"/>
                        <a:satMod val="170000"/>
                      </a:schemeClr>
                    </a:gs>
                    <a:gs pos="49000">
                      <a:schemeClr val="accent1">
                        <a:tint val="88000"/>
                        <a:shade val="65000"/>
                        <a:satMod val="172000"/>
                      </a:schemeClr>
                    </a:gs>
                    <a:gs pos="50000">
                      <a:schemeClr val="accent1">
                        <a:shade val="65000"/>
                        <a:satMod val="130000"/>
                      </a:schemeClr>
                    </a:gs>
                    <a:gs pos="92000">
                      <a:schemeClr val="accent1">
                        <a:shade val="50000"/>
                        <a:satMod val="120000"/>
                      </a:schemeClr>
                    </a:gs>
                    <a:gs pos="100000">
                      <a:schemeClr val="accent1">
                        <a:shade val="48000"/>
                        <a:satMod val="120000"/>
                      </a:schemeClr>
                    </a:gs>
                  </a:gsLst>
                  <a:lin ang="5400000"/>
                </a:gradFill>
                <a:effectLst>
                  <a:reflection blurRad="12700" stA="50000" endPos="50000" dist="5000" dir="5400000" sy="-100000" rotWithShape="0"/>
                </a:effectLst>
                <a:latin typeface="Bahnschrift Condensed" panose="020B0502040204020203" pitchFamily="34" charset="0"/>
              </a:rPr>
            </a:br>
            <a:r>
              <a:rPr lang="en-US" b="1" cap="all" dirty="0">
                <a:ln w="0"/>
                <a:gradFill flip="none">
                  <a:gsLst>
                    <a:gs pos="0">
                      <a:schemeClr val="accent1">
                        <a:tint val="75000"/>
                        <a:shade val="75000"/>
                        <a:satMod val="170000"/>
                      </a:schemeClr>
                    </a:gs>
                    <a:gs pos="49000">
                      <a:schemeClr val="accent1">
                        <a:tint val="88000"/>
                        <a:shade val="65000"/>
                        <a:satMod val="172000"/>
                      </a:schemeClr>
                    </a:gs>
                    <a:gs pos="50000">
                      <a:schemeClr val="accent1">
                        <a:shade val="65000"/>
                        <a:satMod val="130000"/>
                      </a:schemeClr>
                    </a:gs>
                    <a:gs pos="92000">
                      <a:schemeClr val="accent1">
                        <a:shade val="50000"/>
                        <a:satMod val="120000"/>
                      </a:schemeClr>
                    </a:gs>
                    <a:gs pos="100000">
                      <a:schemeClr val="accent1">
                        <a:shade val="48000"/>
                        <a:satMod val="120000"/>
                      </a:schemeClr>
                    </a:gs>
                  </a:gsLst>
                  <a:lin ang="5400000"/>
                </a:gradFill>
                <a:effectLst>
                  <a:reflection blurRad="12700" stA="50000" endPos="50000" dist="5000" dir="5400000" sy="-100000" rotWithShape="0"/>
                </a:effectLst>
                <a:latin typeface="Bahnschrift Condensed" panose="020B0502040204020203" pitchFamily="34" charset="0"/>
              </a:rPr>
              <a:t>CASTE : SAMOON</a:t>
            </a:r>
            <a:br>
              <a:rPr lang="en-US" b="1" cap="all" dirty="0">
                <a:ln w="0"/>
                <a:gradFill flip="none">
                  <a:gsLst>
                    <a:gs pos="0">
                      <a:schemeClr val="accent1">
                        <a:tint val="75000"/>
                        <a:shade val="75000"/>
                        <a:satMod val="170000"/>
                      </a:schemeClr>
                    </a:gs>
                    <a:gs pos="49000">
                      <a:schemeClr val="accent1">
                        <a:tint val="88000"/>
                        <a:shade val="65000"/>
                        <a:satMod val="172000"/>
                      </a:schemeClr>
                    </a:gs>
                    <a:gs pos="50000">
                      <a:schemeClr val="accent1">
                        <a:shade val="65000"/>
                        <a:satMod val="130000"/>
                      </a:schemeClr>
                    </a:gs>
                    <a:gs pos="92000">
                      <a:schemeClr val="accent1">
                        <a:shade val="50000"/>
                        <a:satMod val="120000"/>
                      </a:schemeClr>
                    </a:gs>
                    <a:gs pos="100000">
                      <a:schemeClr val="accent1">
                        <a:shade val="48000"/>
                        <a:satMod val="120000"/>
                      </a:schemeClr>
                    </a:gs>
                  </a:gsLst>
                  <a:lin ang="5400000"/>
                </a:gradFill>
                <a:effectLst>
                  <a:reflection blurRad="12700" stA="50000" endPos="50000" dist="5000" dir="5400000" sy="-100000" rotWithShape="0"/>
                </a:effectLst>
                <a:latin typeface="Bahnschrift Condensed" panose="020B0502040204020203" pitchFamily="34" charset="0"/>
              </a:rPr>
            </a:br>
            <a:r>
              <a:rPr lang="en-US" b="1" cap="all" dirty="0">
                <a:ln w="0"/>
                <a:gradFill flip="none">
                  <a:gsLst>
                    <a:gs pos="0">
                      <a:schemeClr val="accent1">
                        <a:tint val="75000"/>
                        <a:shade val="75000"/>
                        <a:satMod val="170000"/>
                      </a:schemeClr>
                    </a:gs>
                    <a:gs pos="49000">
                      <a:schemeClr val="accent1">
                        <a:tint val="88000"/>
                        <a:shade val="65000"/>
                        <a:satMod val="172000"/>
                      </a:schemeClr>
                    </a:gs>
                    <a:gs pos="50000">
                      <a:schemeClr val="accent1">
                        <a:shade val="65000"/>
                        <a:satMod val="130000"/>
                      </a:schemeClr>
                    </a:gs>
                    <a:gs pos="92000">
                      <a:schemeClr val="accent1">
                        <a:shade val="50000"/>
                        <a:satMod val="120000"/>
                      </a:schemeClr>
                    </a:gs>
                    <a:gs pos="100000">
                      <a:schemeClr val="accent1">
                        <a:shade val="48000"/>
                        <a:satMod val="120000"/>
                      </a:schemeClr>
                    </a:gs>
                  </a:gsLst>
                  <a:lin ang="5400000"/>
                </a:gradFill>
                <a:effectLst>
                  <a:reflection blurRad="12700" stA="50000" endPos="50000" dist="5000" dir="5400000" sy="-100000" rotWithShape="0"/>
                </a:effectLst>
                <a:latin typeface="Bahnschrift Condensed" panose="020B0502040204020203" pitchFamily="34" charset="0"/>
              </a:rPr>
              <a:t>PHONE NO : 03481342814</a:t>
            </a:r>
            <a:br>
              <a:rPr lang="en-US" b="1" cap="all" dirty="0">
                <a:ln w="0"/>
                <a:gradFill flip="none">
                  <a:gsLst>
                    <a:gs pos="0">
                      <a:schemeClr val="accent1">
                        <a:tint val="75000"/>
                        <a:shade val="75000"/>
                        <a:satMod val="170000"/>
                      </a:schemeClr>
                    </a:gs>
                    <a:gs pos="49000">
                      <a:schemeClr val="accent1">
                        <a:tint val="88000"/>
                        <a:shade val="65000"/>
                        <a:satMod val="172000"/>
                      </a:schemeClr>
                    </a:gs>
                    <a:gs pos="50000">
                      <a:schemeClr val="accent1">
                        <a:shade val="65000"/>
                        <a:satMod val="130000"/>
                      </a:schemeClr>
                    </a:gs>
                    <a:gs pos="92000">
                      <a:schemeClr val="accent1">
                        <a:shade val="50000"/>
                        <a:satMod val="120000"/>
                      </a:schemeClr>
                    </a:gs>
                    <a:gs pos="100000">
                      <a:schemeClr val="accent1">
                        <a:shade val="48000"/>
                        <a:satMod val="120000"/>
                      </a:schemeClr>
                    </a:gs>
                  </a:gsLst>
                  <a:lin ang="5400000"/>
                </a:gradFill>
                <a:effectLst>
                  <a:reflection blurRad="12700" stA="50000" endPos="50000" dist="5000" dir="5400000" sy="-100000" rotWithShape="0"/>
                </a:effectLst>
                <a:latin typeface="Bahnschrift Condensed" panose="020B0502040204020203" pitchFamily="34" charset="0"/>
              </a:rPr>
            </a:br>
            <a:r>
              <a:rPr lang="en-US" b="1" cap="all" dirty="0">
                <a:ln w="0"/>
                <a:gradFill flip="none">
                  <a:gsLst>
                    <a:gs pos="0">
                      <a:schemeClr val="accent1">
                        <a:tint val="75000"/>
                        <a:shade val="75000"/>
                        <a:satMod val="170000"/>
                      </a:schemeClr>
                    </a:gs>
                    <a:gs pos="49000">
                      <a:schemeClr val="accent1">
                        <a:tint val="88000"/>
                        <a:shade val="65000"/>
                        <a:satMod val="172000"/>
                      </a:schemeClr>
                    </a:gs>
                    <a:gs pos="50000">
                      <a:schemeClr val="accent1">
                        <a:shade val="65000"/>
                        <a:satMod val="130000"/>
                      </a:schemeClr>
                    </a:gs>
                    <a:gs pos="92000">
                      <a:schemeClr val="accent1">
                        <a:shade val="50000"/>
                        <a:satMod val="120000"/>
                      </a:schemeClr>
                    </a:gs>
                    <a:gs pos="100000">
                      <a:schemeClr val="accent1">
                        <a:shade val="48000"/>
                        <a:satMod val="120000"/>
                      </a:schemeClr>
                    </a:gs>
                  </a:gsLst>
                  <a:lin ang="5400000"/>
                </a:gradFill>
                <a:effectLst>
                  <a:reflection blurRad="12700" stA="50000" endPos="50000" dist="5000" dir="5400000" sy="-100000" rotWithShape="0"/>
                </a:effectLst>
                <a:latin typeface="Bahnschrift Condensed" panose="020B0502040204020203" pitchFamily="34" charset="0"/>
              </a:rPr>
              <a:t>PROJECT : PAKISTAN POPULATION</a:t>
            </a:r>
            <a:br>
              <a:rPr lang="en-US" b="1" cap="all" dirty="0">
                <a:ln w="0"/>
                <a:gradFill flip="none">
                  <a:gsLst>
                    <a:gs pos="0">
                      <a:schemeClr val="accent1">
                        <a:tint val="75000"/>
                        <a:shade val="75000"/>
                        <a:satMod val="170000"/>
                      </a:schemeClr>
                    </a:gs>
                    <a:gs pos="49000">
                      <a:schemeClr val="accent1">
                        <a:tint val="88000"/>
                        <a:shade val="65000"/>
                        <a:satMod val="172000"/>
                      </a:schemeClr>
                    </a:gs>
                    <a:gs pos="50000">
                      <a:schemeClr val="accent1">
                        <a:shade val="65000"/>
                        <a:satMod val="130000"/>
                      </a:schemeClr>
                    </a:gs>
                    <a:gs pos="92000">
                      <a:schemeClr val="accent1">
                        <a:shade val="50000"/>
                        <a:satMod val="120000"/>
                      </a:schemeClr>
                    </a:gs>
                    <a:gs pos="100000">
                      <a:schemeClr val="accent1">
                        <a:shade val="48000"/>
                        <a:satMod val="120000"/>
                      </a:schemeClr>
                    </a:gs>
                  </a:gsLst>
                  <a:lin ang="5400000"/>
                </a:gradFill>
                <a:effectLst>
                  <a:reflection blurRad="12700" stA="50000" endPos="50000" dist="5000" dir="5400000" sy="-100000" rotWithShape="0"/>
                </a:effectLst>
                <a:latin typeface="Bahnschrift Condensed" panose="020B0502040204020203" pitchFamily="34" charset="0"/>
              </a:rPr>
            </a:br>
            <a:r>
              <a:rPr lang="en-US" b="1" cap="all" dirty="0">
                <a:ln w="0"/>
                <a:gradFill flip="none">
                  <a:gsLst>
                    <a:gs pos="0">
                      <a:schemeClr val="accent1">
                        <a:tint val="75000"/>
                        <a:shade val="75000"/>
                        <a:satMod val="170000"/>
                      </a:schemeClr>
                    </a:gs>
                    <a:gs pos="49000">
                      <a:schemeClr val="accent1">
                        <a:tint val="88000"/>
                        <a:shade val="65000"/>
                        <a:satMod val="172000"/>
                      </a:schemeClr>
                    </a:gs>
                    <a:gs pos="50000">
                      <a:schemeClr val="accent1">
                        <a:shade val="65000"/>
                        <a:satMod val="130000"/>
                      </a:schemeClr>
                    </a:gs>
                    <a:gs pos="92000">
                      <a:schemeClr val="accent1">
                        <a:shade val="50000"/>
                        <a:satMod val="120000"/>
                      </a:schemeClr>
                    </a:gs>
                    <a:gs pos="100000">
                      <a:schemeClr val="accent1">
                        <a:shade val="48000"/>
                        <a:satMod val="120000"/>
                      </a:schemeClr>
                    </a:gs>
                  </a:gsLst>
                  <a:lin ang="5400000"/>
                </a:gradFill>
                <a:effectLst>
                  <a:reflection blurRad="12700" stA="50000" endPos="50000" dist="5000" dir="5400000" sy="-100000" rotWithShape="0"/>
                </a:effectLst>
                <a:latin typeface="Bahnschrift Condensed" panose="020B0502040204020203" pitchFamily="34" charset="0"/>
              </a:rPr>
              <a:t>TRAINER : SIR MUHAMMAD ALI </a:t>
            </a:r>
            <a:br>
              <a:rPr lang="en-US" b="1" cap="all" dirty="0">
                <a:ln w="0"/>
                <a:gradFill flip="none">
                  <a:gsLst>
                    <a:gs pos="0">
                      <a:schemeClr val="accent1">
                        <a:tint val="75000"/>
                        <a:shade val="75000"/>
                        <a:satMod val="170000"/>
                      </a:schemeClr>
                    </a:gs>
                    <a:gs pos="49000">
                      <a:schemeClr val="accent1">
                        <a:tint val="88000"/>
                        <a:shade val="65000"/>
                        <a:satMod val="172000"/>
                      </a:schemeClr>
                    </a:gs>
                    <a:gs pos="50000">
                      <a:schemeClr val="accent1">
                        <a:shade val="65000"/>
                        <a:satMod val="130000"/>
                      </a:schemeClr>
                    </a:gs>
                    <a:gs pos="92000">
                      <a:schemeClr val="accent1">
                        <a:shade val="50000"/>
                        <a:satMod val="120000"/>
                      </a:schemeClr>
                    </a:gs>
                    <a:gs pos="100000">
                      <a:schemeClr val="accent1">
                        <a:shade val="48000"/>
                        <a:satMod val="120000"/>
                      </a:schemeClr>
                    </a:gs>
                  </a:gsLst>
                  <a:lin ang="5400000"/>
                </a:gradFill>
                <a:effectLst>
                  <a:reflection blurRad="12700" stA="50000" endPos="50000" dist="5000" dir="5400000" sy="-100000" rotWithShape="0"/>
                </a:effectLst>
                <a:latin typeface="Bahnschrift Condensed" panose="020B0502040204020203" pitchFamily="34" charset="0"/>
              </a:rPr>
            </a:br>
            <a:endParaRPr lang="en-US" dirty="0"/>
          </a:p>
        </p:txBody>
      </p:sp>
    </p:spTree>
    <p:extLst>
      <p:ext uri="{BB962C8B-B14F-4D97-AF65-F5344CB8AC3E}">
        <p14:creationId xmlns:p14="http://schemas.microsoft.com/office/powerpoint/2010/main" val="19533737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marL="571500" indent="-571500">
              <a:buFont typeface="Wingdings" panose="05000000000000000000" pitchFamily="2" charset="2"/>
              <a:buChar char="ü"/>
            </a:pPr>
            <a:r>
              <a:rPr lang="en-US" dirty="0" smtClean="0"/>
              <a:t>DATASET INFORMATION</a:t>
            </a:r>
            <a:endParaRPr lang="en-US" dirty="0"/>
          </a:p>
        </p:txBody>
      </p:sp>
      <p:sp>
        <p:nvSpPr>
          <p:cNvPr id="3" name="Content Placeholder 2"/>
          <p:cNvSpPr>
            <a:spLocks noGrp="1"/>
          </p:cNvSpPr>
          <p:nvPr>
            <p:ph idx="1"/>
          </p:nvPr>
        </p:nvSpPr>
        <p:spPr/>
        <p:txBody>
          <a:bodyPr/>
          <a:lstStyle/>
          <a:p>
            <a:pPr>
              <a:buFont typeface="Wingdings" panose="05000000000000000000" pitchFamily="2" charset="2"/>
              <a:buChar char="§"/>
            </a:pPr>
            <a:r>
              <a:rPr lang="en-US" dirty="0" smtClean="0"/>
              <a:t>DATA ROW=528 </a:t>
            </a:r>
          </a:p>
          <a:p>
            <a:pPr>
              <a:buFont typeface="Wingdings" panose="05000000000000000000" pitchFamily="2" charset="2"/>
              <a:buChar char="§"/>
            </a:pPr>
            <a:r>
              <a:rPr lang="en-US" dirty="0" smtClean="0"/>
              <a:t>Data </a:t>
            </a:r>
            <a:r>
              <a:rPr lang="en-US" dirty="0"/>
              <a:t>columns </a:t>
            </a:r>
            <a:r>
              <a:rPr lang="en-US" dirty="0" smtClean="0"/>
              <a:t>= </a:t>
            </a:r>
            <a:r>
              <a:rPr lang="en-US" dirty="0"/>
              <a:t>21 </a:t>
            </a:r>
            <a:r>
              <a:rPr lang="en-US" dirty="0" smtClean="0"/>
              <a:t>columns</a:t>
            </a:r>
          </a:p>
          <a:p>
            <a:pPr>
              <a:buFont typeface="Wingdings" panose="05000000000000000000" pitchFamily="2" charset="2"/>
              <a:buChar char="§"/>
            </a:pPr>
            <a:r>
              <a:rPr lang="en-US" dirty="0" smtClean="0"/>
              <a:t>SIZE=11616</a:t>
            </a:r>
          </a:p>
          <a:p>
            <a:pPr>
              <a:buFont typeface="Wingdings" panose="05000000000000000000" pitchFamily="2" charset="2"/>
              <a:buChar char="§"/>
            </a:pPr>
            <a:r>
              <a:rPr lang="en-US" dirty="0" smtClean="0"/>
              <a:t>TOTAL DUPLICATE ROWS=0</a:t>
            </a:r>
          </a:p>
          <a:p>
            <a:pPr>
              <a:buFont typeface="Wingdings" panose="05000000000000000000" pitchFamily="2" charset="2"/>
              <a:buChar char="§"/>
            </a:pPr>
            <a:r>
              <a:rPr lang="en-US" dirty="0" smtClean="0"/>
              <a:t>TOTAL DUPLICATE COLUMNS=0</a:t>
            </a:r>
          </a:p>
          <a:p>
            <a:pPr>
              <a:buFont typeface="Wingdings" panose="05000000000000000000" pitchFamily="2" charset="2"/>
              <a:buChar char="§"/>
            </a:pPr>
            <a:r>
              <a:rPr lang="en-US" dirty="0" smtClean="0"/>
              <a:t>MEMORY USAGE= </a:t>
            </a:r>
            <a:r>
              <a:rPr lang="en-US" dirty="0"/>
              <a:t>86.8+ KB</a:t>
            </a:r>
          </a:p>
        </p:txBody>
      </p:sp>
    </p:spTree>
    <p:extLst>
      <p:ext uri="{BB962C8B-B14F-4D97-AF65-F5344CB8AC3E}">
        <p14:creationId xmlns:p14="http://schemas.microsoft.com/office/powerpoint/2010/main" val="268780849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571500" indent="-571500">
              <a:buFont typeface="Wingdings" panose="05000000000000000000" pitchFamily="2" charset="2"/>
              <a:buChar char="ü"/>
            </a:pPr>
            <a:r>
              <a:rPr lang="en-US" dirty="0" smtClean="0"/>
              <a:t>DATA TYPE</a:t>
            </a:r>
            <a:endParaRPr lang="en-US" dirty="0"/>
          </a:p>
        </p:txBody>
      </p:sp>
      <p:sp>
        <p:nvSpPr>
          <p:cNvPr id="3" name="Content Placeholder 2"/>
          <p:cNvSpPr>
            <a:spLocks noGrp="1"/>
          </p:cNvSpPr>
          <p:nvPr>
            <p:ph idx="1"/>
          </p:nvPr>
        </p:nvSpPr>
        <p:spPr/>
        <p:txBody>
          <a:bodyPr>
            <a:normAutofit fontScale="47500" lnSpcReduction="20000"/>
          </a:bodyPr>
          <a:lstStyle/>
          <a:p>
            <a:r>
              <a:rPr lang="en-US" dirty="0"/>
              <a:t>PROVINCE                     </a:t>
            </a:r>
            <a:r>
              <a:rPr lang="en-US" dirty="0" smtClean="0"/>
              <a:t>				  </a:t>
            </a:r>
            <a:r>
              <a:rPr lang="en-US" dirty="0"/>
              <a:t>object</a:t>
            </a:r>
          </a:p>
          <a:p>
            <a:r>
              <a:rPr lang="en-US" dirty="0"/>
              <a:t>DIVISION                       </a:t>
            </a:r>
            <a:r>
              <a:rPr lang="en-US" dirty="0" smtClean="0"/>
              <a:t>			  object</a:t>
            </a:r>
            <a:endParaRPr lang="en-US" dirty="0"/>
          </a:p>
          <a:p>
            <a:r>
              <a:rPr lang="en-US" dirty="0"/>
              <a:t>DISTRICT                       </a:t>
            </a:r>
            <a:r>
              <a:rPr lang="en-US" dirty="0" smtClean="0"/>
              <a:t>				  object</a:t>
            </a:r>
            <a:endParaRPr lang="en-US" dirty="0"/>
          </a:p>
          <a:p>
            <a:r>
              <a:rPr lang="en-US" dirty="0"/>
              <a:t>SUB DIVISION                   </a:t>
            </a:r>
            <a:r>
              <a:rPr lang="en-US" dirty="0" smtClean="0"/>
              <a:t>			  object</a:t>
            </a:r>
            <a:endParaRPr lang="en-US" dirty="0"/>
          </a:p>
          <a:p>
            <a:r>
              <a:rPr lang="en-US" dirty="0"/>
              <a:t>AREA (sq.km)                  </a:t>
            </a:r>
            <a:r>
              <a:rPr lang="en-US" dirty="0" smtClean="0"/>
              <a:t>			  float64</a:t>
            </a:r>
            <a:endParaRPr lang="en-US" dirty="0"/>
          </a:p>
          <a:p>
            <a:r>
              <a:rPr lang="en-US" dirty="0"/>
              <a:t>ALL SEXES (RURAL)             </a:t>
            </a:r>
            <a:r>
              <a:rPr lang="en-US" dirty="0" smtClean="0"/>
              <a:t>			  </a:t>
            </a:r>
            <a:r>
              <a:rPr lang="en-US" dirty="0"/>
              <a:t>int64</a:t>
            </a:r>
          </a:p>
          <a:p>
            <a:r>
              <a:rPr lang="en-US" dirty="0"/>
              <a:t>MALE (RURAL)                  </a:t>
            </a:r>
            <a:r>
              <a:rPr lang="en-US" dirty="0" smtClean="0"/>
              <a:t>			  </a:t>
            </a:r>
            <a:r>
              <a:rPr lang="en-US" dirty="0"/>
              <a:t>int64</a:t>
            </a:r>
          </a:p>
          <a:p>
            <a:r>
              <a:rPr lang="en-US" dirty="0"/>
              <a:t>FEMALE (RURAL)              </a:t>
            </a:r>
            <a:r>
              <a:rPr lang="en-US" dirty="0" smtClean="0"/>
              <a:t>			  int64</a:t>
            </a:r>
            <a:endParaRPr lang="en-US" dirty="0"/>
          </a:p>
          <a:p>
            <a:r>
              <a:rPr lang="en-US" dirty="0"/>
              <a:t>TRANSGENDER (RURAL)           </a:t>
            </a:r>
            <a:r>
              <a:rPr lang="en-US" dirty="0" smtClean="0"/>
              <a:t>			  </a:t>
            </a:r>
            <a:r>
              <a:rPr lang="en-US" dirty="0"/>
              <a:t>int64</a:t>
            </a:r>
          </a:p>
          <a:p>
            <a:r>
              <a:rPr lang="en-US" dirty="0"/>
              <a:t>SEX RATIO (RURAL)          </a:t>
            </a:r>
            <a:r>
              <a:rPr lang="en-US" dirty="0" smtClean="0"/>
              <a:t>			  float64</a:t>
            </a:r>
            <a:endParaRPr lang="en-US" dirty="0"/>
          </a:p>
          <a:p>
            <a:r>
              <a:rPr lang="en-US" dirty="0"/>
              <a:t>AVG HOUSEHOLD SIZE (RURAL)  </a:t>
            </a:r>
            <a:r>
              <a:rPr lang="en-US" dirty="0" smtClean="0"/>
              <a:t>			  </a:t>
            </a:r>
            <a:r>
              <a:rPr lang="en-US" dirty="0"/>
              <a:t>float64</a:t>
            </a:r>
          </a:p>
          <a:p>
            <a:r>
              <a:rPr lang="en-US" dirty="0"/>
              <a:t>POPULATION 1998 (RURAL)       </a:t>
            </a:r>
            <a:r>
              <a:rPr lang="en-US" dirty="0" smtClean="0"/>
              <a:t>			  </a:t>
            </a:r>
            <a:r>
              <a:rPr lang="en-US" dirty="0"/>
              <a:t>int64</a:t>
            </a:r>
          </a:p>
          <a:p>
            <a:r>
              <a:rPr lang="en-US" dirty="0"/>
              <a:t>ANNUAL GROWTH RATE (RURAL)  </a:t>
            </a:r>
            <a:r>
              <a:rPr lang="en-US" dirty="0" smtClean="0"/>
              <a:t>		  </a:t>
            </a:r>
            <a:r>
              <a:rPr lang="en-US" dirty="0"/>
              <a:t>float64</a:t>
            </a:r>
          </a:p>
          <a:p>
            <a:r>
              <a:rPr lang="en-US" dirty="0"/>
              <a:t>ALL SEXES (URBAN)             </a:t>
            </a:r>
            <a:r>
              <a:rPr lang="en-US" dirty="0" smtClean="0"/>
              <a:t>			  </a:t>
            </a:r>
            <a:r>
              <a:rPr lang="en-US" dirty="0"/>
              <a:t>int64</a:t>
            </a:r>
          </a:p>
          <a:p>
            <a:r>
              <a:rPr lang="en-US" dirty="0"/>
              <a:t>MALE (URBAN)                 </a:t>
            </a:r>
            <a:r>
              <a:rPr lang="en-US" dirty="0" smtClean="0"/>
              <a:t>			  int64</a:t>
            </a:r>
            <a:endParaRPr lang="en-US" dirty="0"/>
          </a:p>
          <a:p>
            <a:r>
              <a:rPr lang="en-US" dirty="0"/>
              <a:t>FEMALE (URBAN)              </a:t>
            </a:r>
            <a:r>
              <a:rPr lang="en-US" dirty="0" smtClean="0"/>
              <a:t>			  int64</a:t>
            </a:r>
            <a:endParaRPr lang="en-US" dirty="0"/>
          </a:p>
          <a:p>
            <a:r>
              <a:rPr lang="en-US" dirty="0"/>
              <a:t>TRANSGENDER (URBAN)       </a:t>
            </a:r>
            <a:r>
              <a:rPr lang="en-US" dirty="0" smtClean="0"/>
              <a:t>			  int64</a:t>
            </a:r>
            <a:endParaRPr lang="en-US" dirty="0"/>
          </a:p>
          <a:p>
            <a:r>
              <a:rPr lang="en-US" dirty="0"/>
              <a:t>SEX RATIO (URBAN)           </a:t>
            </a:r>
            <a:r>
              <a:rPr lang="en-US" dirty="0" smtClean="0"/>
              <a:t>			  </a:t>
            </a:r>
            <a:r>
              <a:rPr lang="en-US" dirty="0"/>
              <a:t>float64</a:t>
            </a:r>
          </a:p>
          <a:p>
            <a:r>
              <a:rPr lang="en-US" dirty="0"/>
              <a:t>AVG HOUSEHOLD SIZE (URBAN) </a:t>
            </a:r>
            <a:r>
              <a:rPr lang="en-US" dirty="0" smtClean="0"/>
              <a:t>		 	 float64</a:t>
            </a:r>
            <a:endParaRPr lang="en-US" dirty="0"/>
          </a:p>
          <a:p>
            <a:r>
              <a:rPr lang="en-US" dirty="0"/>
              <a:t>POPULATION 1998 (URBAN)       </a:t>
            </a:r>
            <a:r>
              <a:rPr lang="en-US" dirty="0" smtClean="0"/>
              <a:t>	</a:t>
            </a:r>
            <a:r>
              <a:rPr lang="en-US" smtClean="0"/>
              <a:t>		  </a:t>
            </a:r>
            <a:r>
              <a:rPr lang="en-US" dirty="0"/>
              <a:t>int64</a:t>
            </a:r>
          </a:p>
          <a:p>
            <a:r>
              <a:rPr lang="en-US" dirty="0"/>
              <a:t>ANNUAL GROWTH RATE (URBAN)  </a:t>
            </a:r>
            <a:r>
              <a:rPr lang="en-US" dirty="0" smtClean="0"/>
              <a:t>		  float64</a:t>
            </a:r>
            <a:endParaRPr lang="en-US" dirty="0"/>
          </a:p>
        </p:txBody>
      </p:sp>
    </p:spTree>
    <p:extLst>
      <p:ext uri="{BB962C8B-B14F-4D97-AF65-F5344CB8AC3E}">
        <p14:creationId xmlns:p14="http://schemas.microsoft.com/office/powerpoint/2010/main" val="188639451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571500" indent="-571500">
              <a:buFont typeface="Wingdings" panose="05000000000000000000" pitchFamily="2" charset="2"/>
              <a:buChar char="ü"/>
            </a:pPr>
            <a:r>
              <a:rPr lang="en-US" dirty="0" smtClean="0"/>
              <a:t>COLUMNS</a:t>
            </a:r>
            <a:endParaRPr lang="en-US" dirty="0"/>
          </a:p>
        </p:txBody>
      </p:sp>
      <p:sp>
        <p:nvSpPr>
          <p:cNvPr id="3" name="Content Placeholder 2"/>
          <p:cNvSpPr>
            <a:spLocks noGrp="1"/>
          </p:cNvSpPr>
          <p:nvPr>
            <p:ph idx="1"/>
          </p:nvPr>
        </p:nvSpPr>
        <p:spPr>
          <a:xfrm>
            <a:off x="1463040" y="1676400"/>
            <a:ext cx="6196405" cy="4046669"/>
          </a:xfrm>
        </p:spPr>
        <p:txBody>
          <a:bodyPr>
            <a:normAutofit fontScale="77500" lnSpcReduction="20000"/>
          </a:bodyPr>
          <a:lstStyle/>
          <a:p>
            <a:pPr>
              <a:buFont typeface="Wingdings" panose="05000000000000000000" pitchFamily="2" charset="2"/>
              <a:buChar char="ü"/>
            </a:pPr>
            <a:r>
              <a:rPr lang="en-US" sz="1600" dirty="0" smtClean="0"/>
              <a:t>PROVINCE</a:t>
            </a:r>
          </a:p>
          <a:p>
            <a:pPr>
              <a:buFont typeface="Wingdings" panose="05000000000000000000" pitchFamily="2" charset="2"/>
              <a:buChar char="ü"/>
            </a:pPr>
            <a:r>
              <a:rPr lang="en-US" sz="1600" dirty="0" smtClean="0"/>
              <a:t>DIVISION</a:t>
            </a:r>
          </a:p>
          <a:p>
            <a:pPr>
              <a:buFont typeface="Wingdings" panose="05000000000000000000" pitchFamily="2" charset="2"/>
              <a:buChar char="ü"/>
            </a:pPr>
            <a:r>
              <a:rPr lang="en-US" sz="1600" dirty="0" smtClean="0"/>
              <a:t>DISTRICT</a:t>
            </a:r>
          </a:p>
          <a:p>
            <a:pPr>
              <a:buFont typeface="Wingdings" panose="05000000000000000000" pitchFamily="2" charset="2"/>
              <a:buChar char="ü"/>
            </a:pPr>
            <a:r>
              <a:rPr lang="en-US" sz="1600" dirty="0" smtClean="0"/>
              <a:t>SUB DIVISION</a:t>
            </a:r>
          </a:p>
          <a:p>
            <a:pPr>
              <a:buFont typeface="Wingdings" panose="05000000000000000000" pitchFamily="2" charset="2"/>
              <a:buChar char="ü"/>
            </a:pPr>
            <a:r>
              <a:rPr lang="en-US" sz="1600" dirty="0" smtClean="0"/>
              <a:t>AREA </a:t>
            </a:r>
            <a:r>
              <a:rPr lang="en-US" sz="1600" dirty="0"/>
              <a:t>(</a:t>
            </a:r>
            <a:r>
              <a:rPr lang="en-US" sz="1600" dirty="0" smtClean="0"/>
              <a:t>sq.km)</a:t>
            </a:r>
          </a:p>
          <a:p>
            <a:pPr>
              <a:buFont typeface="Wingdings" panose="05000000000000000000" pitchFamily="2" charset="2"/>
              <a:buChar char="ü"/>
            </a:pPr>
            <a:r>
              <a:rPr lang="en-US" sz="1600" dirty="0" smtClean="0"/>
              <a:t>ALL </a:t>
            </a:r>
            <a:r>
              <a:rPr lang="en-US" sz="1600" dirty="0"/>
              <a:t>SEXES (</a:t>
            </a:r>
            <a:r>
              <a:rPr lang="en-US" sz="1600" dirty="0" smtClean="0"/>
              <a:t>RURAL)</a:t>
            </a:r>
          </a:p>
          <a:p>
            <a:pPr>
              <a:buFont typeface="Wingdings" panose="05000000000000000000" pitchFamily="2" charset="2"/>
              <a:buChar char="ü"/>
            </a:pPr>
            <a:r>
              <a:rPr lang="en-US" sz="1600" dirty="0" smtClean="0"/>
              <a:t>MALE </a:t>
            </a:r>
            <a:r>
              <a:rPr lang="en-US" sz="1600" dirty="0"/>
              <a:t>(</a:t>
            </a:r>
            <a:r>
              <a:rPr lang="en-US" sz="1600" dirty="0" smtClean="0"/>
              <a:t>RURAL)</a:t>
            </a:r>
          </a:p>
          <a:p>
            <a:pPr>
              <a:buFont typeface="Wingdings" panose="05000000000000000000" pitchFamily="2" charset="2"/>
              <a:buChar char="ü"/>
            </a:pPr>
            <a:r>
              <a:rPr lang="en-US" sz="1600" dirty="0" smtClean="0"/>
              <a:t>FEMALE </a:t>
            </a:r>
            <a:r>
              <a:rPr lang="en-US" sz="1600" dirty="0"/>
              <a:t>(</a:t>
            </a:r>
            <a:r>
              <a:rPr lang="en-US" sz="1600" dirty="0" smtClean="0"/>
              <a:t>RURAL)</a:t>
            </a:r>
          </a:p>
          <a:p>
            <a:pPr>
              <a:buFont typeface="Wingdings" panose="05000000000000000000" pitchFamily="2" charset="2"/>
              <a:buChar char="ü"/>
            </a:pPr>
            <a:r>
              <a:rPr lang="en-US" sz="1600" dirty="0" smtClean="0"/>
              <a:t>TRANSGENDER </a:t>
            </a:r>
            <a:r>
              <a:rPr lang="en-US" sz="1600" dirty="0"/>
              <a:t>(</a:t>
            </a:r>
            <a:r>
              <a:rPr lang="en-US" sz="1600" dirty="0" smtClean="0"/>
              <a:t>RURAL)</a:t>
            </a:r>
          </a:p>
          <a:p>
            <a:pPr>
              <a:buFont typeface="Wingdings" panose="05000000000000000000" pitchFamily="2" charset="2"/>
              <a:buChar char="ü"/>
            </a:pPr>
            <a:r>
              <a:rPr lang="en-US" sz="1600" dirty="0" smtClean="0"/>
              <a:t>SEX </a:t>
            </a:r>
            <a:r>
              <a:rPr lang="en-US" sz="1600" dirty="0"/>
              <a:t>RATIO (</a:t>
            </a:r>
            <a:r>
              <a:rPr lang="en-US" sz="1600" dirty="0" smtClean="0"/>
              <a:t>RURAL)</a:t>
            </a:r>
          </a:p>
          <a:p>
            <a:pPr>
              <a:buFont typeface="Wingdings" panose="05000000000000000000" pitchFamily="2" charset="2"/>
              <a:buChar char="ü"/>
            </a:pPr>
            <a:r>
              <a:rPr lang="en-US" sz="1600" dirty="0" smtClean="0"/>
              <a:t>AVG </a:t>
            </a:r>
            <a:r>
              <a:rPr lang="en-US" sz="1600" dirty="0"/>
              <a:t>HOUSEHOLD SIZE (</a:t>
            </a:r>
            <a:r>
              <a:rPr lang="en-US" sz="1600" dirty="0" smtClean="0"/>
              <a:t>RURAL)</a:t>
            </a:r>
          </a:p>
          <a:p>
            <a:pPr>
              <a:buFont typeface="Wingdings" panose="05000000000000000000" pitchFamily="2" charset="2"/>
              <a:buChar char="ü"/>
            </a:pPr>
            <a:r>
              <a:rPr lang="en-US" sz="1600" dirty="0" smtClean="0"/>
              <a:t>POPULATION </a:t>
            </a:r>
            <a:r>
              <a:rPr lang="en-US" sz="1600" dirty="0"/>
              <a:t>1998 (</a:t>
            </a:r>
            <a:r>
              <a:rPr lang="en-US" sz="1600" dirty="0" smtClean="0"/>
              <a:t>RURAL)</a:t>
            </a:r>
          </a:p>
          <a:p>
            <a:pPr>
              <a:buFont typeface="Wingdings" panose="05000000000000000000" pitchFamily="2" charset="2"/>
              <a:buChar char="ü"/>
            </a:pPr>
            <a:r>
              <a:rPr lang="en-US" sz="1600" dirty="0" smtClean="0"/>
              <a:t>ANNUAL </a:t>
            </a:r>
            <a:r>
              <a:rPr lang="en-US" sz="1600" dirty="0"/>
              <a:t>GROWTH RATE (</a:t>
            </a:r>
            <a:r>
              <a:rPr lang="en-US" sz="1600" dirty="0" smtClean="0"/>
              <a:t>RURAL)</a:t>
            </a:r>
          </a:p>
          <a:p>
            <a:pPr>
              <a:buFont typeface="Wingdings" panose="05000000000000000000" pitchFamily="2" charset="2"/>
              <a:buChar char="ü"/>
            </a:pPr>
            <a:r>
              <a:rPr lang="en-US" sz="1600" dirty="0" smtClean="0"/>
              <a:t>ALL </a:t>
            </a:r>
            <a:r>
              <a:rPr lang="en-US" sz="1600" dirty="0"/>
              <a:t>SEXES (</a:t>
            </a:r>
            <a:r>
              <a:rPr lang="en-US" sz="1600" dirty="0" smtClean="0"/>
              <a:t>URBAN)</a:t>
            </a:r>
          </a:p>
          <a:p>
            <a:pPr>
              <a:buFont typeface="Wingdings" panose="05000000000000000000" pitchFamily="2" charset="2"/>
              <a:buChar char="ü"/>
            </a:pPr>
            <a:r>
              <a:rPr lang="en-US" sz="1600" dirty="0" smtClean="0"/>
              <a:t>MALE </a:t>
            </a:r>
            <a:r>
              <a:rPr lang="en-US" sz="1600" dirty="0"/>
              <a:t>(</a:t>
            </a:r>
            <a:r>
              <a:rPr lang="en-US" sz="1600" dirty="0" smtClean="0"/>
              <a:t>URBAN)</a:t>
            </a:r>
          </a:p>
          <a:p>
            <a:pPr>
              <a:buFont typeface="Wingdings" panose="05000000000000000000" pitchFamily="2" charset="2"/>
              <a:buChar char="ü"/>
            </a:pPr>
            <a:r>
              <a:rPr lang="en-US" sz="1600" dirty="0" smtClean="0"/>
              <a:t>FEMALE </a:t>
            </a:r>
            <a:r>
              <a:rPr lang="en-US" sz="1600" dirty="0"/>
              <a:t>(</a:t>
            </a:r>
            <a:r>
              <a:rPr lang="en-US" sz="1600" dirty="0" smtClean="0"/>
              <a:t>URBAN)</a:t>
            </a:r>
          </a:p>
          <a:p>
            <a:pPr>
              <a:buFont typeface="Wingdings" panose="05000000000000000000" pitchFamily="2" charset="2"/>
              <a:buChar char="ü"/>
            </a:pPr>
            <a:r>
              <a:rPr lang="en-US" sz="1600" dirty="0" smtClean="0"/>
              <a:t>TRANSGENDER </a:t>
            </a:r>
            <a:r>
              <a:rPr lang="en-US" sz="1600" dirty="0"/>
              <a:t>(</a:t>
            </a:r>
            <a:r>
              <a:rPr lang="en-US" sz="1600" dirty="0" smtClean="0"/>
              <a:t>URBAN)</a:t>
            </a:r>
          </a:p>
          <a:p>
            <a:pPr>
              <a:buFont typeface="Wingdings" panose="05000000000000000000" pitchFamily="2" charset="2"/>
              <a:buChar char="ü"/>
            </a:pPr>
            <a:r>
              <a:rPr lang="en-US" sz="1600" dirty="0" smtClean="0"/>
              <a:t>SEX </a:t>
            </a:r>
            <a:r>
              <a:rPr lang="en-US" sz="1600" dirty="0"/>
              <a:t>RATIO (URBAN</a:t>
            </a:r>
            <a:r>
              <a:rPr lang="en-US" sz="1600" dirty="0" smtClean="0"/>
              <a:t>)‘</a:t>
            </a:r>
          </a:p>
          <a:p>
            <a:pPr>
              <a:buFont typeface="Wingdings" panose="05000000000000000000" pitchFamily="2" charset="2"/>
              <a:buChar char="ü"/>
            </a:pPr>
            <a:r>
              <a:rPr lang="en-US" sz="1600" dirty="0" smtClean="0"/>
              <a:t>AVG </a:t>
            </a:r>
            <a:r>
              <a:rPr lang="en-US" sz="1600" dirty="0"/>
              <a:t>HOUSEHOLD SIZE (</a:t>
            </a:r>
            <a:r>
              <a:rPr lang="en-US" sz="1600" dirty="0" smtClean="0"/>
              <a:t>URBAN)</a:t>
            </a:r>
          </a:p>
          <a:p>
            <a:pPr>
              <a:buFont typeface="Wingdings" panose="05000000000000000000" pitchFamily="2" charset="2"/>
              <a:buChar char="ü"/>
            </a:pPr>
            <a:r>
              <a:rPr lang="en-US" sz="1600" dirty="0" smtClean="0"/>
              <a:t>POPULATION </a:t>
            </a:r>
            <a:r>
              <a:rPr lang="en-US" sz="1600" dirty="0"/>
              <a:t>1998 (</a:t>
            </a:r>
            <a:r>
              <a:rPr lang="en-US" sz="1600" dirty="0" smtClean="0"/>
              <a:t>URBAN)</a:t>
            </a:r>
          </a:p>
          <a:p>
            <a:pPr>
              <a:buFont typeface="Wingdings" panose="05000000000000000000" pitchFamily="2" charset="2"/>
              <a:buChar char="ü"/>
            </a:pPr>
            <a:r>
              <a:rPr lang="en-US" sz="1600" dirty="0" smtClean="0"/>
              <a:t>ANNUAL </a:t>
            </a:r>
            <a:r>
              <a:rPr lang="en-US" sz="1600" dirty="0"/>
              <a:t>GROWTH RATE (</a:t>
            </a:r>
            <a:r>
              <a:rPr lang="en-US" sz="1600" dirty="0" smtClean="0"/>
              <a:t>URBAN'</a:t>
            </a:r>
            <a:endParaRPr lang="en-US" sz="1600" dirty="0"/>
          </a:p>
        </p:txBody>
      </p:sp>
    </p:spTree>
    <p:extLst>
      <p:ext uri="{BB962C8B-B14F-4D97-AF65-F5344CB8AC3E}">
        <p14:creationId xmlns:p14="http://schemas.microsoft.com/office/powerpoint/2010/main" val="263409100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571500" indent="-571500">
              <a:buFont typeface="Wingdings" panose="05000000000000000000" pitchFamily="2" charset="2"/>
              <a:buChar char="ü"/>
            </a:pPr>
            <a:r>
              <a:rPr lang="en-US" dirty="0" smtClean="0"/>
              <a:t>NULL VALUE</a:t>
            </a:r>
            <a:endParaRPr lang="en-US" dirty="0"/>
          </a:p>
        </p:txBody>
      </p:sp>
      <p:sp>
        <p:nvSpPr>
          <p:cNvPr id="3" name="Content Placeholder 2"/>
          <p:cNvSpPr>
            <a:spLocks noGrp="1"/>
          </p:cNvSpPr>
          <p:nvPr>
            <p:ph idx="1"/>
          </p:nvPr>
        </p:nvSpPr>
        <p:spPr>
          <a:xfrm>
            <a:off x="1066800" y="1905000"/>
            <a:ext cx="7010400" cy="4038600"/>
          </a:xfrm>
        </p:spPr>
        <p:txBody>
          <a:bodyPr>
            <a:noAutofit/>
          </a:bodyPr>
          <a:lstStyle/>
          <a:p>
            <a:r>
              <a:rPr lang="en-US" sz="1050" dirty="0"/>
              <a:t>PROVINCE            </a:t>
            </a:r>
            <a:r>
              <a:rPr lang="en-US" sz="1050" dirty="0" smtClean="0"/>
              <a:t>			 </a:t>
            </a:r>
            <a:r>
              <a:rPr lang="en-US" sz="1050" dirty="0"/>
              <a:t>0</a:t>
            </a:r>
          </a:p>
          <a:p>
            <a:r>
              <a:rPr lang="en-US" sz="1050" dirty="0"/>
              <a:t>DIVISION                      </a:t>
            </a:r>
            <a:r>
              <a:rPr lang="en-US" sz="1050" dirty="0" smtClean="0"/>
              <a:t>			0</a:t>
            </a:r>
            <a:endParaRPr lang="en-US" sz="1050" dirty="0"/>
          </a:p>
          <a:p>
            <a:r>
              <a:rPr lang="en-US" sz="1050" dirty="0"/>
              <a:t>DISTRICT                </a:t>
            </a:r>
            <a:r>
              <a:rPr lang="en-US" sz="1050" dirty="0" smtClean="0"/>
              <a:t>			0</a:t>
            </a:r>
            <a:endParaRPr lang="en-US" sz="1050" dirty="0"/>
          </a:p>
          <a:p>
            <a:r>
              <a:rPr lang="en-US" sz="1050" dirty="0"/>
              <a:t>SUB DIVISION           </a:t>
            </a:r>
            <a:r>
              <a:rPr lang="en-US" sz="1050" dirty="0" smtClean="0"/>
              <a:t>		   	 </a:t>
            </a:r>
            <a:r>
              <a:rPr lang="en-US" sz="1050" dirty="0"/>
              <a:t>0</a:t>
            </a:r>
          </a:p>
          <a:p>
            <a:r>
              <a:rPr lang="en-US" sz="1050" dirty="0"/>
              <a:t>AREA (sq.km)          </a:t>
            </a:r>
            <a:r>
              <a:rPr lang="en-US" sz="1050" dirty="0" smtClean="0"/>
              <a:t>			   </a:t>
            </a:r>
            <a:r>
              <a:rPr lang="en-US" sz="1050" dirty="0"/>
              <a:t>0</a:t>
            </a:r>
          </a:p>
          <a:p>
            <a:r>
              <a:rPr lang="en-US" sz="1050" dirty="0"/>
              <a:t>ALL SEXES (RURAL) </a:t>
            </a:r>
            <a:r>
              <a:rPr lang="en-US" sz="1050" dirty="0" smtClean="0"/>
              <a:t>		   	     </a:t>
            </a:r>
            <a:r>
              <a:rPr lang="en-US" sz="1050" dirty="0"/>
              <a:t>0</a:t>
            </a:r>
          </a:p>
          <a:p>
            <a:r>
              <a:rPr lang="en-US" sz="1050" dirty="0"/>
              <a:t>MALE (RURAL)            </a:t>
            </a:r>
            <a:r>
              <a:rPr lang="en-US" sz="1050" dirty="0" smtClean="0"/>
              <a:t>			    </a:t>
            </a:r>
            <a:r>
              <a:rPr lang="en-US" sz="1050" dirty="0"/>
              <a:t>0</a:t>
            </a:r>
          </a:p>
          <a:p>
            <a:r>
              <a:rPr lang="en-US" sz="1050" dirty="0"/>
              <a:t>FEMALE (RURAL)          </a:t>
            </a:r>
            <a:r>
              <a:rPr lang="en-US" sz="1050" dirty="0" smtClean="0"/>
              <a:t>			     </a:t>
            </a:r>
            <a:r>
              <a:rPr lang="en-US" sz="1050" dirty="0"/>
              <a:t>0</a:t>
            </a:r>
          </a:p>
          <a:p>
            <a:r>
              <a:rPr lang="en-US" sz="1050" dirty="0"/>
              <a:t>TRANSGENDER (RURAL)      </a:t>
            </a:r>
            <a:r>
              <a:rPr lang="en-US" sz="1050" dirty="0" smtClean="0"/>
              <a:t>		     </a:t>
            </a:r>
            <a:r>
              <a:rPr lang="en-US" sz="1050" dirty="0"/>
              <a:t>0</a:t>
            </a:r>
          </a:p>
          <a:p>
            <a:r>
              <a:rPr lang="en-US" sz="1050" dirty="0"/>
              <a:t>SEX RATIO (RURAL)            </a:t>
            </a:r>
            <a:r>
              <a:rPr lang="en-US" sz="1050" dirty="0" smtClean="0"/>
              <a:t>			    </a:t>
            </a:r>
            <a:r>
              <a:rPr lang="en-US" sz="1050" dirty="0"/>
              <a:t>0</a:t>
            </a:r>
          </a:p>
          <a:p>
            <a:r>
              <a:rPr lang="en-US" sz="1050" dirty="0"/>
              <a:t>AVG HOUSEHOLD SIZE (RURAL</a:t>
            </a:r>
            <a:r>
              <a:rPr lang="en-US" sz="1050" dirty="0" smtClean="0"/>
              <a:t>)		    </a:t>
            </a:r>
            <a:r>
              <a:rPr lang="en-US" sz="1050" dirty="0"/>
              <a:t>0</a:t>
            </a:r>
          </a:p>
          <a:p>
            <a:r>
              <a:rPr lang="en-US" sz="1050" dirty="0"/>
              <a:t>POPULATION 1998 (RURAL)    </a:t>
            </a:r>
            <a:r>
              <a:rPr lang="en-US" sz="1050" dirty="0" smtClean="0"/>
              <a:t>		   </a:t>
            </a:r>
            <a:r>
              <a:rPr lang="en-US" sz="1050" dirty="0"/>
              <a:t>0</a:t>
            </a:r>
          </a:p>
          <a:p>
            <a:r>
              <a:rPr lang="en-US" sz="1050" dirty="0"/>
              <a:t>ANNUAL GROWTH RATE (RURAL</a:t>
            </a:r>
            <a:r>
              <a:rPr lang="en-US" sz="1050" dirty="0" smtClean="0"/>
              <a:t>)		    </a:t>
            </a:r>
            <a:r>
              <a:rPr lang="en-US" sz="1050" dirty="0"/>
              <a:t>0</a:t>
            </a:r>
          </a:p>
          <a:p>
            <a:r>
              <a:rPr lang="en-US" sz="1050" dirty="0"/>
              <a:t>ALL SEXES (URBAN)        </a:t>
            </a:r>
            <a:r>
              <a:rPr lang="en-US" sz="1050" dirty="0" smtClean="0"/>
              <a:t>			    </a:t>
            </a:r>
            <a:r>
              <a:rPr lang="en-US" sz="1050" dirty="0"/>
              <a:t>0</a:t>
            </a:r>
          </a:p>
          <a:p>
            <a:r>
              <a:rPr lang="en-US" sz="1050" dirty="0"/>
              <a:t>MALE (URBAN)              </a:t>
            </a:r>
            <a:r>
              <a:rPr lang="en-US" sz="1050" dirty="0" smtClean="0"/>
              <a:t>			    </a:t>
            </a:r>
            <a:r>
              <a:rPr lang="en-US" sz="1050" dirty="0"/>
              <a:t>0</a:t>
            </a:r>
          </a:p>
          <a:p>
            <a:r>
              <a:rPr lang="en-US" sz="1050" dirty="0"/>
              <a:t>FEMALE (URBAN)        </a:t>
            </a:r>
            <a:r>
              <a:rPr lang="en-US" sz="1050" dirty="0" smtClean="0"/>
              <a:t>			     </a:t>
            </a:r>
            <a:r>
              <a:rPr lang="en-US" sz="1050" dirty="0"/>
              <a:t>0</a:t>
            </a:r>
          </a:p>
          <a:p>
            <a:r>
              <a:rPr lang="en-US" sz="1050" dirty="0"/>
              <a:t>TRANSGENDER (URBAN)   </a:t>
            </a:r>
            <a:r>
              <a:rPr lang="en-US" sz="1050" dirty="0" smtClean="0"/>
              <a:t>			      </a:t>
            </a:r>
            <a:r>
              <a:rPr lang="en-US" sz="1050" dirty="0"/>
              <a:t>0</a:t>
            </a:r>
          </a:p>
          <a:p>
            <a:r>
              <a:rPr lang="en-US" sz="1050" dirty="0"/>
              <a:t>SEX RATIO (URBAN)         </a:t>
            </a:r>
            <a:r>
              <a:rPr lang="en-US" sz="1050" dirty="0" smtClean="0"/>
              <a:t>			    </a:t>
            </a:r>
            <a:r>
              <a:rPr lang="en-US" sz="1050" dirty="0"/>
              <a:t>0</a:t>
            </a:r>
          </a:p>
          <a:p>
            <a:r>
              <a:rPr lang="en-US" sz="1050" dirty="0"/>
              <a:t>AVG HOUSEHOLD SIZE (URBAN) </a:t>
            </a:r>
            <a:r>
              <a:rPr lang="en-US" sz="1050" dirty="0" smtClean="0"/>
              <a:t>		   </a:t>
            </a:r>
            <a:r>
              <a:rPr lang="en-US" sz="1050" dirty="0"/>
              <a:t>0</a:t>
            </a:r>
          </a:p>
          <a:p>
            <a:r>
              <a:rPr lang="en-US" sz="1050" dirty="0"/>
              <a:t>POPULATION 1998 (URBAN)   </a:t>
            </a:r>
            <a:r>
              <a:rPr lang="en-US" sz="1050" dirty="0" smtClean="0"/>
              <a:t>		    </a:t>
            </a:r>
            <a:r>
              <a:rPr lang="en-US" sz="1050" dirty="0"/>
              <a:t>0</a:t>
            </a:r>
          </a:p>
          <a:p>
            <a:r>
              <a:rPr lang="en-US" sz="1050" dirty="0"/>
              <a:t>ANNUAL GROWTH RATE (URBAN) </a:t>
            </a:r>
            <a:r>
              <a:rPr lang="en-US" sz="1050" dirty="0" smtClean="0"/>
              <a:t>		   </a:t>
            </a:r>
            <a:r>
              <a:rPr lang="en-US" sz="1050" dirty="0"/>
              <a:t>0</a:t>
            </a:r>
          </a:p>
        </p:txBody>
      </p:sp>
    </p:spTree>
    <p:extLst>
      <p:ext uri="{BB962C8B-B14F-4D97-AF65-F5344CB8AC3E}">
        <p14:creationId xmlns:p14="http://schemas.microsoft.com/office/powerpoint/2010/main" val="3669732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dirty="0" smtClean="0"/>
              <a:t>PAKISTAN </a:t>
            </a:r>
            <a:br>
              <a:rPr lang="en-US" sz="2800" b="1" dirty="0" smtClean="0"/>
            </a:br>
            <a:r>
              <a:rPr lang="en-US" sz="2800" b="1" dirty="0" smtClean="0"/>
              <a:t>DIVISIONS , DISTRICTS, SUB DIVISIONS</a:t>
            </a:r>
            <a:endParaRPr lang="en-US" sz="2800" b="1"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35990302"/>
              </p:ext>
            </p:extLst>
          </p:nvPr>
        </p:nvGraphicFramePr>
        <p:xfrm>
          <a:off x="2362200" y="1981200"/>
          <a:ext cx="4784725" cy="1005840"/>
        </p:xfrm>
        <a:graphic>
          <a:graphicData uri="http://schemas.openxmlformats.org/drawingml/2006/table">
            <a:tbl>
              <a:tblPr firstRow="1" bandRow="1">
                <a:tableStyleId>{5C22544A-7EE6-4342-B048-85BDC9FD1C3A}</a:tableStyleId>
              </a:tblPr>
              <a:tblGrid>
                <a:gridCol w="1549003"/>
                <a:gridCol w="1549003"/>
                <a:gridCol w="1686719"/>
              </a:tblGrid>
              <a:tr h="457200">
                <a:tc>
                  <a:txBody>
                    <a:bodyPr/>
                    <a:lstStyle/>
                    <a:p>
                      <a:r>
                        <a:rPr lang="en-US" dirty="0" smtClean="0"/>
                        <a:t>DIVISIONS</a:t>
                      </a:r>
                      <a:endParaRPr lang="en-US" dirty="0"/>
                    </a:p>
                  </a:txBody>
                  <a:tcPr/>
                </a:tc>
                <a:tc>
                  <a:txBody>
                    <a:bodyPr/>
                    <a:lstStyle/>
                    <a:p>
                      <a:r>
                        <a:rPr lang="en-US" dirty="0" smtClean="0"/>
                        <a:t>DISTRICTS</a:t>
                      </a:r>
                      <a:endParaRPr lang="en-US" dirty="0"/>
                    </a:p>
                  </a:txBody>
                  <a:tcPr/>
                </a:tc>
                <a:tc>
                  <a:txBody>
                    <a:bodyPr/>
                    <a:lstStyle/>
                    <a:p>
                      <a:r>
                        <a:rPr lang="en-US" dirty="0" smtClean="0"/>
                        <a:t>SUB DIVISIONS</a:t>
                      </a:r>
                      <a:endParaRPr lang="en-US" dirty="0"/>
                    </a:p>
                  </a:txBody>
                  <a:tcPr/>
                </a:tc>
              </a:tr>
              <a:tr h="228600">
                <a:tc>
                  <a:txBody>
                    <a:bodyPr/>
                    <a:lstStyle/>
                    <a:p>
                      <a:r>
                        <a:rPr lang="en-US" dirty="0" smtClean="0"/>
                        <a:t>28</a:t>
                      </a:r>
                      <a:endParaRPr lang="en-US" dirty="0"/>
                    </a:p>
                  </a:txBody>
                  <a:tcPr/>
                </a:tc>
                <a:tc>
                  <a:txBody>
                    <a:bodyPr/>
                    <a:lstStyle/>
                    <a:p>
                      <a:r>
                        <a:rPr lang="en-US" sz="1800" b="0" i="0" kern="1200" dirty="0" smtClean="0">
                          <a:solidFill>
                            <a:schemeClr val="dk1"/>
                          </a:solidFill>
                          <a:effectLst/>
                          <a:latin typeface="+mn-lt"/>
                          <a:ea typeface="+mn-ea"/>
                          <a:cs typeface="+mn-cs"/>
                        </a:rPr>
                        <a:t>131</a:t>
                      </a:r>
                      <a:endParaRPr lang="en-US" dirty="0"/>
                    </a:p>
                  </a:txBody>
                  <a:tcPr/>
                </a:tc>
                <a:tc>
                  <a:txBody>
                    <a:bodyPr/>
                    <a:lstStyle/>
                    <a:p>
                      <a:r>
                        <a:rPr lang="en-US" sz="1800" b="0" i="0" kern="1200" dirty="0" smtClean="0">
                          <a:solidFill>
                            <a:schemeClr val="dk1"/>
                          </a:solidFill>
                          <a:effectLst/>
                          <a:latin typeface="+mn-lt"/>
                          <a:ea typeface="+mn-ea"/>
                          <a:cs typeface="+mn-cs"/>
                        </a:rPr>
                        <a:t>528</a:t>
                      </a:r>
                      <a:endParaRPr lang="en-US" dirty="0"/>
                    </a:p>
                  </a:txBody>
                  <a:tcPr/>
                </a:tc>
              </a:tr>
            </a:tbl>
          </a:graphicData>
        </a:graphic>
      </p:graphicFrame>
    </p:spTree>
    <p:extLst>
      <p:ext uri="{BB962C8B-B14F-4D97-AF65-F5344CB8AC3E}">
        <p14:creationId xmlns:p14="http://schemas.microsoft.com/office/powerpoint/2010/main" val="372682193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571500" indent="-571500">
              <a:buFont typeface="Wingdings" panose="05000000000000000000" pitchFamily="2" charset="2"/>
              <a:buChar char="ü"/>
            </a:pPr>
            <a:r>
              <a:rPr lang="en-US" dirty="0"/>
              <a:t>N</a:t>
            </a:r>
            <a:r>
              <a:rPr lang="en-US" dirty="0" smtClean="0"/>
              <a:t>ame </a:t>
            </a:r>
            <a:r>
              <a:rPr lang="en-US" dirty="0"/>
              <a:t>of all </a:t>
            </a:r>
            <a:r>
              <a:rPr lang="en-US" dirty="0" smtClean="0"/>
              <a:t>Provinces</a:t>
            </a:r>
            <a:endParaRPr lang="en-US" dirty="0"/>
          </a:p>
        </p:txBody>
      </p:sp>
      <p:sp>
        <p:nvSpPr>
          <p:cNvPr id="3" name="Content Placeholder 2"/>
          <p:cNvSpPr>
            <a:spLocks noGrp="1"/>
          </p:cNvSpPr>
          <p:nvPr>
            <p:ph idx="1"/>
          </p:nvPr>
        </p:nvSpPr>
        <p:spPr/>
        <p:txBody>
          <a:bodyPr/>
          <a:lstStyle/>
          <a:p>
            <a:pPr marL="0" indent="0">
              <a:buNone/>
            </a:pPr>
            <a:r>
              <a:rPr lang="en-US" dirty="0" smtClean="0"/>
              <a:t>THERE IS A FIVE PROVINCE OF PAKISTAN</a:t>
            </a:r>
          </a:p>
          <a:p>
            <a:pPr>
              <a:buFont typeface="Wingdings" panose="05000000000000000000" pitchFamily="2" charset="2"/>
              <a:buChar char="ü"/>
            </a:pPr>
            <a:r>
              <a:rPr lang="en-US" dirty="0" smtClean="0"/>
              <a:t>PUNJAB</a:t>
            </a:r>
          </a:p>
          <a:p>
            <a:pPr>
              <a:buFont typeface="Wingdings" panose="05000000000000000000" pitchFamily="2" charset="2"/>
              <a:buChar char="ü"/>
            </a:pPr>
            <a:r>
              <a:rPr lang="en-US" dirty="0" smtClean="0"/>
              <a:t>SINDH</a:t>
            </a:r>
          </a:p>
          <a:p>
            <a:pPr>
              <a:buFont typeface="Wingdings" panose="05000000000000000000" pitchFamily="2" charset="2"/>
              <a:buChar char="ü"/>
            </a:pPr>
            <a:r>
              <a:rPr lang="en-US" dirty="0" smtClean="0"/>
              <a:t>BALOCHISTAN</a:t>
            </a:r>
          </a:p>
          <a:p>
            <a:pPr>
              <a:buFont typeface="Wingdings" panose="05000000000000000000" pitchFamily="2" charset="2"/>
              <a:buChar char="ü"/>
            </a:pPr>
            <a:r>
              <a:rPr lang="en-US" dirty="0" smtClean="0"/>
              <a:t>KPK</a:t>
            </a:r>
          </a:p>
          <a:p>
            <a:pPr>
              <a:buFont typeface="Wingdings" panose="05000000000000000000" pitchFamily="2" charset="2"/>
              <a:buChar char="ü"/>
            </a:pPr>
            <a:r>
              <a:rPr lang="en-US" dirty="0" smtClean="0"/>
              <a:t>KPK/FATA</a:t>
            </a:r>
            <a:endParaRPr lang="en-US" dirty="0"/>
          </a:p>
        </p:txBody>
      </p:sp>
    </p:spTree>
    <p:extLst>
      <p:ext uri="{BB962C8B-B14F-4D97-AF65-F5344CB8AC3E}">
        <p14:creationId xmlns:p14="http://schemas.microsoft.com/office/powerpoint/2010/main" val="122601951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p:cNvGraphicFramePr>
            <a:graphicFrameLocks noGrp="1"/>
          </p:cNvGraphicFramePr>
          <p:nvPr>
            <p:extLst>
              <p:ext uri="{D42A27DB-BD31-4B8C-83A1-F6EECF244321}">
                <p14:modId xmlns:p14="http://schemas.microsoft.com/office/powerpoint/2010/main" val="2592055041"/>
              </p:ext>
            </p:extLst>
          </p:nvPr>
        </p:nvGraphicFramePr>
        <p:xfrm>
          <a:off x="1371600" y="1397000"/>
          <a:ext cx="6400800" cy="3393440"/>
        </p:xfrm>
        <a:graphic>
          <a:graphicData uri="http://schemas.openxmlformats.org/drawingml/2006/table">
            <a:tbl>
              <a:tblPr firstRow="1" bandRow="1">
                <a:tableStyleId>{5C22544A-7EE6-4342-B048-85BDC9FD1C3A}</a:tableStyleId>
              </a:tblPr>
              <a:tblGrid>
                <a:gridCol w="1981200"/>
                <a:gridCol w="1295400"/>
                <a:gridCol w="1409700"/>
                <a:gridCol w="1714500"/>
              </a:tblGrid>
              <a:tr h="528320">
                <a:tc>
                  <a:txBody>
                    <a:bodyPr/>
                    <a:lstStyle/>
                    <a:p>
                      <a:r>
                        <a:rPr lang="en-US" dirty="0" smtClean="0"/>
                        <a:t>PROVINCE</a:t>
                      </a:r>
                      <a:endParaRPr lang="en-US" dirty="0"/>
                    </a:p>
                  </a:txBody>
                  <a:tcPr/>
                </a:tc>
                <a:tc>
                  <a:txBody>
                    <a:bodyPr/>
                    <a:lstStyle/>
                    <a:p>
                      <a:r>
                        <a:rPr lang="en-US" dirty="0" smtClean="0"/>
                        <a:t>DIVISIONS</a:t>
                      </a:r>
                      <a:endParaRPr lang="en-US" dirty="0"/>
                    </a:p>
                  </a:txBody>
                  <a:tcPr/>
                </a:tc>
                <a:tc>
                  <a:txBody>
                    <a:bodyPr/>
                    <a:lstStyle/>
                    <a:p>
                      <a:r>
                        <a:rPr lang="en-US" dirty="0" smtClean="0"/>
                        <a:t>DISTRICTS</a:t>
                      </a:r>
                      <a:endParaRPr lang="en-US" dirty="0"/>
                    </a:p>
                  </a:txBody>
                  <a:tcPr/>
                </a:tc>
                <a:tc>
                  <a:txBody>
                    <a:bodyPr/>
                    <a:lstStyle/>
                    <a:p>
                      <a:r>
                        <a:rPr lang="en-US" dirty="0" smtClean="0"/>
                        <a:t>SUB DIVISIONS</a:t>
                      </a:r>
                      <a:endParaRPr lang="en-US" dirty="0"/>
                    </a:p>
                  </a:txBody>
                  <a:tcPr/>
                </a:tc>
              </a:tr>
              <a:tr h="528320">
                <a:tc>
                  <a:txBody>
                    <a:bodyPr/>
                    <a:lstStyle/>
                    <a:p>
                      <a:r>
                        <a:rPr lang="en-US" dirty="0" smtClean="0"/>
                        <a:t>SINDH</a:t>
                      </a:r>
                      <a:endParaRPr lang="en-US" dirty="0"/>
                    </a:p>
                  </a:txBody>
                  <a:tcPr/>
                </a:tc>
                <a:tc>
                  <a:txBody>
                    <a:bodyPr/>
                    <a:lstStyle/>
                    <a:p>
                      <a:r>
                        <a:rPr lang="en-US" dirty="0" smtClean="0"/>
                        <a:t>7</a:t>
                      </a:r>
                      <a:endParaRPr lang="en-US" dirty="0"/>
                    </a:p>
                  </a:txBody>
                  <a:tcPr/>
                </a:tc>
                <a:tc>
                  <a:txBody>
                    <a:bodyPr/>
                    <a:lstStyle/>
                    <a:p>
                      <a:r>
                        <a:rPr lang="en-US" dirty="0" smtClean="0"/>
                        <a:t>29</a:t>
                      </a:r>
                      <a:endParaRPr lang="en-US" dirty="0"/>
                    </a:p>
                  </a:txBody>
                  <a:tcPr/>
                </a:tc>
                <a:tc>
                  <a:txBody>
                    <a:bodyPr/>
                    <a:lstStyle/>
                    <a:p>
                      <a:r>
                        <a:rPr lang="en-US" dirty="0" smtClean="0"/>
                        <a:t>137</a:t>
                      </a:r>
                      <a:endParaRPr lang="en-US" dirty="0"/>
                    </a:p>
                  </a:txBody>
                  <a:tcPr/>
                </a:tc>
              </a:tr>
              <a:tr h="528320">
                <a:tc>
                  <a:txBody>
                    <a:bodyPr/>
                    <a:lstStyle/>
                    <a:p>
                      <a:r>
                        <a:rPr lang="en-US" dirty="0" smtClean="0"/>
                        <a:t>PUNJAB</a:t>
                      </a:r>
                      <a:endParaRPr lang="en-US" dirty="0"/>
                    </a:p>
                  </a:txBody>
                  <a:tcPr/>
                </a:tc>
                <a:tc>
                  <a:txBody>
                    <a:bodyPr/>
                    <a:lstStyle/>
                    <a:p>
                      <a:r>
                        <a:rPr lang="en-US" dirty="0" smtClean="0"/>
                        <a:t>9</a:t>
                      </a:r>
                      <a:endParaRPr lang="en-US" dirty="0"/>
                    </a:p>
                  </a:txBody>
                  <a:tcPr/>
                </a:tc>
                <a:tc>
                  <a:txBody>
                    <a:bodyPr/>
                    <a:lstStyle/>
                    <a:p>
                      <a:r>
                        <a:rPr lang="en-US" dirty="0" smtClean="0"/>
                        <a:t>36</a:t>
                      </a:r>
                      <a:endParaRPr lang="en-US" dirty="0"/>
                    </a:p>
                  </a:txBody>
                  <a:tcPr/>
                </a:tc>
                <a:tc>
                  <a:txBody>
                    <a:bodyPr/>
                    <a:lstStyle/>
                    <a:p>
                      <a:r>
                        <a:rPr lang="en-US" dirty="0" smtClean="0"/>
                        <a:t>143</a:t>
                      </a:r>
                      <a:endParaRPr lang="en-US" dirty="0"/>
                    </a:p>
                  </a:txBody>
                  <a:tcPr/>
                </a:tc>
              </a:tr>
              <a:tr h="528320">
                <a:tc>
                  <a:txBody>
                    <a:bodyPr/>
                    <a:lstStyle/>
                    <a:p>
                      <a:r>
                        <a:rPr lang="en-US" dirty="0" smtClean="0"/>
                        <a:t>KPK</a:t>
                      </a:r>
                      <a:endParaRPr lang="en-US" dirty="0"/>
                    </a:p>
                  </a:txBody>
                  <a:tcPr/>
                </a:tc>
                <a:tc>
                  <a:txBody>
                    <a:bodyPr/>
                    <a:lstStyle/>
                    <a:p>
                      <a:r>
                        <a:rPr lang="en-US" dirty="0" smtClean="0"/>
                        <a:t>7</a:t>
                      </a:r>
                      <a:endParaRPr lang="en-US" dirty="0"/>
                    </a:p>
                  </a:txBody>
                  <a:tcPr/>
                </a:tc>
                <a:tc>
                  <a:txBody>
                    <a:bodyPr/>
                    <a:lstStyle/>
                    <a:p>
                      <a:r>
                        <a:rPr lang="en-US" dirty="0" smtClean="0"/>
                        <a:t>23</a:t>
                      </a:r>
                      <a:endParaRPr lang="en-US" dirty="0"/>
                    </a:p>
                  </a:txBody>
                  <a:tcPr/>
                </a:tc>
                <a:tc>
                  <a:txBody>
                    <a:bodyPr/>
                    <a:lstStyle/>
                    <a:p>
                      <a:r>
                        <a:rPr lang="en-US" dirty="0" smtClean="0"/>
                        <a:t>71</a:t>
                      </a:r>
                      <a:endParaRPr lang="en-US" dirty="0"/>
                    </a:p>
                  </a:txBody>
                  <a:tcPr/>
                </a:tc>
              </a:tr>
              <a:tr h="528320">
                <a:tc>
                  <a:txBody>
                    <a:bodyPr/>
                    <a:lstStyle/>
                    <a:p>
                      <a:r>
                        <a:rPr lang="en-US" dirty="0" smtClean="0"/>
                        <a:t>KPK / FATA region</a:t>
                      </a:r>
                      <a:endParaRPr lang="en-US" dirty="0"/>
                    </a:p>
                  </a:txBody>
                  <a:tcPr/>
                </a:tc>
                <a:tc>
                  <a:txBody>
                    <a:bodyPr/>
                    <a:lstStyle/>
                    <a:p>
                      <a:r>
                        <a:rPr lang="en-US" dirty="0" smtClean="0"/>
                        <a:t>5</a:t>
                      </a:r>
                      <a:endParaRPr lang="en-US" dirty="0"/>
                    </a:p>
                  </a:txBody>
                  <a:tcPr/>
                </a:tc>
                <a:tc>
                  <a:txBody>
                    <a:bodyPr/>
                    <a:lstStyle/>
                    <a:p>
                      <a:r>
                        <a:rPr lang="en-US" dirty="0" smtClean="0"/>
                        <a:t>12</a:t>
                      </a:r>
                      <a:endParaRPr lang="en-US" dirty="0"/>
                    </a:p>
                  </a:txBody>
                  <a:tcPr/>
                </a:tc>
                <a:tc>
                  <a:txBody>
                    <a:bodyPr/>
                    <a:lstStyle/>
                    <a:p>
                      <a:r>
                        <a:rPr lang="en-US" dirty="0" smtClean="0"/>
                        <a:t>46</a:t>
                      </a:r>
                      <a:endParaRPr lang="en-US" dirty="0"/>
                    </a:p>
                  </a:txBody>
                  <a:tcPr/>
                </a:tc>
              </a:tr>
              <a:tr h="528320">
                <a:tc>
                  <a:txBody>
                    <a:bodyPr/>
                    <a:lstStyle/>
                    <a:p>
                      <a:r>
                        <a:rPr lang="en-US" dirty="0" smtClean="0"/>
                        <a:t>BALOCHISTAN</a:t>
                      </a:r>
                      <a:endParaRPr lang="en-US" dirty="0"/>
                    </a:p>
                  </a:txBody>
                  <a:tcPr/>
                </a:tc>
                <a:tc>
                  <a:txBody>
                    <a:bodyPr/>
                    <a:lstStyle/>
                    <a:p>
                      <a:r>
                        <a:rPr lang="en-US" dirty="0" smtClean="0"/>
                        <a:t>5</a:t>
                      </a:r>
                      <a:endParaRPr lang="en-US" dirty="0"/>
                    </a:p>
                  </a:txBody>
                  <a:tcPr/>
                </a:tc>
                <a:tc>
                  <a:txBody>
                    <a:bodyPr/>
                    <a:lstStyle/>
                    <a:p>
                      <a:r>
                        <a:rPr lang="en-US" dirty="0" smtClean="0"/>
                        <a:t>31</a:t>
                      </a:r>
                      <a:endParaRPr lang="en-US" dirty="0"/>
                    </a:p>
                  </a:txBody>
                  <a:tcPr/>
                </a:tc>
                <a:tc>
                  <a:txBody>
                    <a:bodyPr/>
                    <a:lstStyle/>
                    <a:p>
                      <a:r>
                        <a:rPr lang="en-US" dirty="0" smtClean="0"/>
                        <a:t>131</a:t>
                      </a:r>
                      <a:endParaRPr lang="en-US" dirty="0"/>
                    </a:p>
                  </a:txBody>
                  <a:tcPr/>
                </a:tc>
              </a:tr>
            </a:tbl>
          </a:graphicData>
        </a:graphic>
      </p:graphicFrame>
    </p:spTree>
    <p:extLst>
      <p:ext uri="{BB962C8B-B14F-4D97-AF65-F5344CB8AC3E}">
        <p14:creationId xmlns:p14="http://schemas.microsoft.com/office/powerpoint/2010/main" val="387663005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676400" y="1371600"/>
            <a:ext cx="5712179" cy="685800"/>
          </a:xfrm>
        </p:spPr>
        <p:txBody>
          <a:bodyPr>
            <a:normAutofit fontScale="85000" lnSpcReduction="10000"/>
          </a:bodyPr>
          <a:lstStyle/>
          <a:p>
            <a:r>
              <a:rPr lang="en-US" sz="2800" b="1" u="sng" dirty="0" smtClean="0"/>
              <a:t>LARGEST POPULATION IN PAKISTAN</a:t>
            </a:r>
            <a:endParaRPr lang="en-US" sz="2800" b="1" u="sng" dirty="0"/>
          </a:p>
        </p:txBody>
      </p:sp>
      <p:graphicFrame>
        <p:nvGraphicFramePr>
          <p:cNvPr id="5" name="Table 4"/>
          <p:cNvGraphicFramePr>
            <a:graphicFrameLocks noGrp="1"/>
          </p:cNvGraphicFramePr>
          <p:nvPr>
            <p:extLst>
              <p:ext uri="{D42A27DB-BD31-4B8C-83A1-F6EECF244321}">
                <p14:modId xmlns:p14="http://schemas.microsoft.com/office/powerpoint/2010/main" val="3857904168"/>
              </p:ext>
            </p:extLst>
          </p:nvPr>
        </p:nvGraphicFramePr>
        <p:xfrm>
          <a:off x="1600200" y="2209800"/>
          <a:ext cx="6096000" cy="2291080"/>
        </p:xfrm>
        <a:graphic>
          <a:graphicData uri="http://schemas.openxmlformats.org/drawingml/2006/table">
            <a:tbl>
              <a:tblPr firstRow="1" bandRow="1">
                <a:tableStyleId>{5C22544A-7EE6-4342-B048-85BDC9FD1C3A}</a:tableStyleId>
              </a:tblPr>
              <a:tblGrid>
                <a:gridCol w="2032000"/>
                <a:gridCol w="2032000"/>
                <a:gridCol w="2032000"/>
              </a:tblGrid>
              <a:tr h="370840">
                <a:tc>
                  <a:txBody>
                    <a:bodyPr/>
                    <a:lstStyle/>
                    <a:p>
                      <a:r>
                        <a:rPr lang="en-US" dirty="0" smtClean="0"/>
                        <a:t>CATEGORY</a:t>
                      </a:r>
                      <a:endParaRPr lang="en-US" dirty="0"/>
                    </a:p>
                  </a:txBody>
                  <a:tcPr/>
                </a:tc>
                <a:tc>
                  <a:txBody>
                    <a:bodyPr/>
                    <a:lstStyle/>
                    <a:p>
                      <a:r>
                        <a:rPr lang="en-US" dirty="0" smtClean="0"/>
                        <a:t>NAME</a:t>
                      </a:r>
                      <a:endParaRPr lang="en-US" dirty="0"/>
                    </a:p>
                  </a:txBody>
                  <a:tcPr/>
                </a:tc>
                <a:tc>
                  <a:txBody>
                    <a:bodyPr/>
                    <a:lstStyle/>
                    <a:p>
                      <a:r>
                        <a:rPr lang="en-US" dirty="0" smtClean="0"/>
                        <a:t>POPULATION</a:t>
                      </a:r>
                      <a:endParaRPr lang="en-US" dirty="0"/>
                    </a:p>
                  </a:txBody>
                  <a:tcPr/>
                </a:tc>
              </a:tr>
              <a:tr h="370840">
                <a:tc>
                  <a:txBody>
                    <a:bodyPr/>
                    <a:lstStyle/>
                    <a:p>
                      <a:r>
                        <a:rPr lang="en-US" dirty="0" smtClean="0"/>
                        <a:t>DIVISION</a:t>
                      </a:r>
                      <a:endParaRPr lang="en-US" dirty="0"/>
                    </a:p>
                  </a:txBody>
                  <a:tcPr/>
                </a:tc>
                <a:tc>
                  <a:txBody>
                    <a:bodyPr/>
                    <a:lstStyle/>
                    <a:p>
                      <a:r>
                        <a:rPr lang="en-US" sz="1800" b="0" i="0" kern="1200" dirty="0" smtClean="0">
                          <a:solidFill>
                            <a:schemeClr val="dk1"/>
                          </a:solidFill>
                          <a:effectLst/>
                          <a:latin typeface="+mn-lt"/>
                          <a:ea typeface="+mn-ea"/>
                          <a:cs typeface="+mn-cs"/>
                        </a:rPr>
                        <a:t>LAHORE DIVISION</a:t>
                      </a:r>
                      <a:endParaRPr lang="en-US" dirty="0"/>
                    </a:p>
                  </a:txBody>
                  <a:tcPr/>
                </a:tc>
                <a:tc>
                  <a:txBody>
                    <a:bodyPr/>
                    <a:lstStyle/>
                    <a:p>
                      <a:r>
                        <a:rPr lang="en-US" sz="1800" b="0" i="0" kern="1200" dirty="0" smtClean="0">
                          <a:solidFill>
                            <a:schemeClr val="dk1"/>
                          </a:solidFill>
                          <a:effectLst/>
                          <a:latin typeface="+mn-lt"/>
                          <a:ea typeface="+mn-ea"/>
                          <a:cs typeface="+mn-cs"/>
                        </a:rPr>
                        <a:t>19389856</a:t>
                      </a:r>
                      <a:endParaRPr lang="en-US" dirty="0"/>
                    </a:p>
                  </a:txBody>
                  <a:tcPr/>
                </a:tc>
              </a:tr>
              <a:tr h="370840">
                <a:tc>
                  <a:txBody>
                    <a:bodyPr/>
                    <a:lstStyle/>
                    <a:p>
                      <a:r>
                        <a:rPr lang="en-US" dirty="0" smtClean="0"/>
                        <a:t>DISTRICT</a:t>
                      </a:r>
                      <a:endParaRPr lang="en-US" dirty="0"/>
                    </a:p>
                  </a:txBody>
                  <a:tcPr/>
                </a:tc>
                <a:tc>
                  <a:txBody>
                    <a:bodyPr/>
                    <a:lstStyle/>
                    <a:p>
                      <a:r>
                        <a:rPr lang="en-US" sz="1800" b="0" i="0" kern="1200" dirty="0" smtClean="0">
                          <a:solidFill>
                            <a:schemeClr val="dk1"/>
                          </a:solidFill>
                          <a:effectLst/>
                          <a:latin typeface="+mn-lt"/>
                          <a:ea typeface="+mn-ea"/>
                          <a:cs typeface="+mn-cs"/>
                        </a:rPr>
                        <a:t>LAHORE DISTRICT</a:t>
                      </a:r>
                      <a:endParaRPr lang="en-US" dirty="0"/>
                    </a:p>
                  </a:txBody>
                  <a:tcPr/>
                </a:tc>
                <a:tc>
                  <a:txBody>
                    <a:bodyPr/>
                    <a:lstStyle/>
                    <a:p>
                      <a:r>
                        <a:rPr lang="en-US" sz="1800" b="0" i="0" kern="1200" dirty="0" smtClean="0">
                          <a:solidFill>
                            <a:schemeClr val="dk1"/>
                          </a:solidFill>
                          <a:effectLst/>
                          <a:latin typeface="+mn-lt"/>
                          <a:ea typeface="+mn-ea"/>
                          <a:cs typeface="+mn-cs"/>
                        </a:rPr>
                        <a:t>11119985</a:t>
                      </a:r>
                      <a:endParaRPr lang="en-US" dirty="0"/>
                    </a:p>
                  </a:txBody>
                  <a:tcPr/>
                </a:tc>
              </a:tr>
              <a:tr h="370840">
                <a:tc>
                  <a:txBody>
                    <a:bodyPr/>
                    <a:lstStyle/>
                    <a:p>
                      <a:r>
                        <a:rPr lang="en-US" dirty="0" smtClean="0"/>
                        <a:t>SUB DIVISION</a:t>
                      </a:r>
                      <a:endParaRPr lang="en-US" dirty="0"/>
                    </a:p>
                  </a:txBody>
                  <a:tcPr/>
                </a:tc>
                <a:tc>
                  <a:txBody>
                    <a:bodyPr/>
                    <a:lstStyle/>
                    <a:p>
                      <a:r>
                        <a:rPr lang="en-US" sz="1800" b="0" i="0" kern="1200" dirty="0" smtClean="0">
                          <a:solidFill>
                            <a:schemeClr val="dk1"/>
                          </a:solidFill>
                          <a:effectLst/>
                          <a:latin typeface="+mn-lt"/>
                          <a:ea typeface="+mn-ea"/>
                          <a:cs typeface="+mn-cs"/>
                        </a:rPr>
                        <a:t>PESHAWAR TEHSIL</a:t>
                      </a:r>
                      <a:endParaRPr lang="en-US" dirty="0"/>
                    </a:p>
                  </a:txBody>
                  <a:tcPr/>
                </a:tc>
                <a:tc>
                  <a:txBody>
                    <a:bodyPr/>
                    <a:lstStyle/>
                    <a:p>
                      <a:r>
                        <a:rPr lang="en-US" sz="1800" b="0" i="0" kern="1200" dirty="0" smtClean="0">
                          <a:solidFill>
                            <a:schemeClr val="dk1"/>
                          </a:solidFill>
                          <a:effectLst/>
                          <a:latin typeface="+mn-lt"/>
                          <a:ea typeface="+mn-ea"/>
                          <a:cs typeface="+mn-cs"/>
                        </a:rPr>
                        <a:t>4267198</a:t>
                      </a:r>
                      <a:endParaRPr lang="en-US" dirty="0"/>
                    </a:p>
                  </a:txBody>
                  <a:tcPr/>
                </a:tc>
              </a:tr>
            </a:tbl>
          </a:graphicData>
        </a:graphic>
      </p:graphicFrame>
    </p:spTree>
    <p:extLst>
      <p:ext uri="{BB962C8B-B14F-4D97-AF65-F5344CB8AC3E}">
        <p14:creationId xmlns:p14="http://schemas.microsoft.com/office/powerpoint/2010/main" val="30105931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u="sng" dirty="0" smtClean="0"/>
              <a:t>LARGEST AREA OF PAKISTAN</a:t>
            </a:r>
            <a:endParaRPr lang="en-US" sz="3200" b="1" u="sng"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831043044"/>
              </p:ext>
            </p:extLst>
          </p:nvPr>
        </p:nvGraphicFramePr>
        <p:xfrm>
          <a:off x="1524000" y="2133600"/>
          <a:ext cx="6196014" cy="1752600"/>
        </p:xfrm>
        <a:graphic>
          <a:graphicData uri="http://schemas.openxmlformats.org/drawingml/2006/table">
            <a:tbl>
              <a:tblPr firstRow="1" bandRow="1">
                <a:tableStyleId>{5C22544A-7EE6-4342-B048-85BDC9FD1C3A}</a:tableStyleId>
              </a:tblPr>
              <a:tblGrid>
                <a:gridCol w="2065338"/>
                <a:gridCol w="2065338"/>
                <a:gridCol w="2065338"/>
              </a:tblGrid>
              <a:tr h="370840">
                <a:tc>
                  <a:txBody>
                    <a:bodyPr/>
                    <a:lstStyle/>
                    <a:p>
                      <a:r>
                        <a:rPr lang="en-US" dirty="0" smtClean="0"/>
                        <a:t>CATEGORY</a:t>
                      </a:r>
                      <a:endParaRPr lang="en-US" dirty="0"/>
                    </a:p>
                  </a:txBody>
                  <a:tcPr/>
                </a:tc>
                <a:tc>
                  <a:txBody>
                    <a:bodyPr/>
                    <a:lstStyle/>
                    <a:p>
                      <a:r>
                        <a:rPr lang="en-US" dirty="0" smtClean="0"/>
                        <a:t>NAME</a:t>
                      </a:r>
                      <a:r>
                        <a:rPr lang="en-US" baseline="0" dirty="0" smtClean="0"/>
                        <a:t> </a:t>
                      </a:r>
                      <a:endParaRPr lang="en-US" dirty="0"/>
                    </a:p>
                  </a:txBody>
                  <a:tcPr/>
                </a:tc>
                <a:tc>
                  <a:txBody>
                    <a:bodyPr/>
                    <a:lstStyle/>
                    <a:p>
                      <a:r>
                        <a:rPr lang="en-US" dirty="0" smtClean="0"/>
                        <a:t>AREA</a:t>
                      </a:r>
                      <a:endParaRPr lang="en-US" dirty="0"/>
                    </a:p>
                  </a:txBody>
                  <a:tcPr/>
                </a:tc>
              </a:tr>
              <a:tr h="370840">
                <a:tc>
                  <a:txBody>
                    <a:bodyPr/>
                    <a:lstStyle/>
                    <a:p>
                      <a:r>
                        <a:rPr lang="en-US" dirty="0" smtClean="0"/>
                        <a:t>DIVISION</a:t>
                      </a:r>
                      <a:endParaRPr lang="en-US" dirty="0"/>
                    </a:p>
                  </a:txBody>
                  <a:tcPr/>
                </a:tc>
                <a:tc>
                  <a:txBody>
                    <a:bodyPr/>
                    <a:lstStyle/>
                    <a:p>
                      <a:r>
                        <a:rPr lang="en-US" sz="1800" b="0" i="0" kern="1200" dirty="0" err="1" smtClean="0">
                          <a:solidFill>
                            <a:schemeClr val="dk1"/>
                          </a:solidFill>
                          <a:effectLst/>
                          <a:latin typeface="+mn-lt"/>
                          <a:ea typeface="+mn-ea"/>
                          <a:cs typeface="+mn-cs"/>
                        </a:rPr>
                        <a:t>Makran</a:t>
                      </a:r>
                      <a:r>
                        <a:rPr lang="en-US" sz="1800" b="0" i="0" kern="1200" dirty="0" smtClean="0">
                          <a:solidFill>
                            <a:schemeClr val="dk1"/>
                          </a:solidFill>
                          <a:effectLst/>
                          <a:latin typeface="+mn-lt"/>
                          <a:ea typeface="+mn-ea"/>
                          <a:cs typeface="+mn-cs"/>
                        </a:rPr>
                        <a:t> Division</a:t>
                      </a:r>
                      <a:endParaRPr lang="en-US" dirty="0"/>
                    </a:p>
                  </a:txBody>
                  <a:tcPr/>
                </a:tc>
                <a:tc>
                  <a:txBody>
                    <a:bodyPr/>
                    <a:lstStyle/>
                    <a:p>
                      <a:r>
                        <a:rPr lang="en-US" sz="1800" b="0" i="0" kern="1200" dirty="0" smtClean="0">
                          <a:solidFill>
                            <a:schemeClr val="dk1"/>
                          </a:solidFill>
                          <a:effectLst/>
                          <a:latin typeface="+mn-lt"/>
                          <a:ea typeface="+mn-ea"/>
                          <a:cs typeface="+mn-cs"/>
                        </a:rPr>
                        <a:t>143591</a:t>
                      </a:r>
                      <a:endParaRPr lang="en-US" dirty="0"/>
                    </a:p>
                  </a:txBody>
                  <a:tcPr/>
                </a:tc>
              </a:tr>
              <a:tr h="370840">
                <a:tc>
                  <a:txBody>
                    <a:bodyPr/>
                    <a:lstStyle/>
                    <a:p>
                      <a:r>
                        <a:rPr lang="en-US" dirty="0" smtClean="0"/>
                        <a:t>DISTRICT</a:t>
                      </a:r>
                      <a:endParaRPr lang="en-US" dirty="0"/>
                    </a:p>
                  </a:txBody>
                  <a:tcPr/>
                </a:tc>
                <a:tc>
                  <a:txBody>
                    <a:bodyPr/>
                    <a:lstStyle/>
                    <a:p>
                      <a:r>
                        <a:rPr lang="en-US" sz="1800" b="0" i="0" kern="1200" dirty="0" smtClean="0">
                          <a:solidFill>
                            <a:schemeClr val="dk1"/>
                          </a:solidFill>
                          <a:effectLst/>
                          <a:latin typeface="+mn-lt"/>
                          <a:ea typeface="+mn-ea"/>
                          <a:cs typeface="+mn-cs"/>
                        </a:rPr>
                        <a:t>CHAGAI DISTRICT</a:t>
                      </a:r>
                      <a:endParaRPr lang="en-US" dirty="0"/>
                    </a:p>
                  </a:txBody>
                  <a:tcPr/>
                </a:tc>
                <a:tc>
                  <a:txBody>
                    <a:bodyPr/>
                    <a:lstStyle/>
                    <a:p>
                      <a:r>
                        <a:rPr lang="en-US" sz="1800" b="0" i="0" kern="1200" dirty="0" smtClean="0">
                          <a:solidFill>
                            <a:schemeClr val="dk1"/>
                          </a:solidFill>
                          <a:effectLst/>
                          <a:latin typeface="+mn-lt"/>
                          <a:ea typeface="+mn-ea"/>
                          <a:cs typeface="+mn-cs"/>
                        </a:rPr>
                        <a:t>44748</a:t>
                      </a:r>
                      <a:endParaRPr lang="en-US" dirty="0"/>
                    </a:p>
                  </a:txBody>
                  <a:tcPr/>
                </a:tc>
              </a:tr>
              <a:tr h="370840">
                <a:tc>
                  <a:txBody>
                    <a:bodyPr/>
                    <a:lstStyle/>
                    <a:p>
                      <a:r>
                        <a:rPr lang="en-US" dirty="0" smtClean="0"/>
                        <a:t>SUB DIVISION</a:t>
                      </a:r>
                      <a:endParaRPr lang="en-US" dirty="0"/>
                    </a:p>
                  </a:txBody>
                  <a:tcPr/>
                </a:tc>
                <a:tc>
                  <a:txBody>
                    <a:bodyPr/>
                    <a:lstStyle/>
                    <a:p>
                      <a:r>
                        <a:rPr lang="en-US" sz="1800" b="0" i="0" kern="1200" dirty="0" smtClean="0">
                          <a:solidFill>
                            <a:schemeClr val="dk1"/>
                          </a:solidFill>
                          <a:effectLst/>
                          <a:latin typeface="+mn-lt"/>
                          <a:ea typeface="+mn-ea"/>
                          <a:cs typeface="+mn-cs"/>
                        </a:rPr>
                        <a:t>YAZMAN TEHSIL</a:t>
                      </a:r>
                      <a:endParaRPr lang="en-US" dirty="0"/>
                    </a:p>
                  </a:txBody>
                  <a:tcPr/>
                </a:tc>
                <a:tc>
                  <a:txBody>
                    <a:bodyPr/>
                    <a:lstStyle/>
                    <a:p>
                      <a:r>
                        <a:rPr lang="en-US" sz="1800" b="0" i="0" kern="1200" dirty="0" smtClean="0">
                          <a:solidFill>
                            <a:schemeClr val="dk1"/>
                          </a:solidFill>
                          <a:effectLst/>
                          <a:latin typeface="+mn-lt"/>
                          <a:ea typeface="+mn-ea"/>
                          <a:cs typeface="+mn-cs"/>
                        </a:rPr>
                        <a:t>18374</a:t>
                      </a:r>
                      <a:endParaRPr lang="en-US" dirty="0"/>
                    </a:p>
                  </a:txBody>
                  <a:tcPr/>
                </a:tc>
              </a:tr>
            </a:tbl>
          </a:graphicData>
        </a:graphic>
      </p:graphicFrame>
    </p:spTree>
    <p:extLst>
      <p:ext uri="{BB962C8B-B14F-4D97-AF65-F5344CB8AC3E}">
        <p14:creationId xmlns:p14="http://schemas.microsoft.com/office/powerpoint/2010/main" val="123211779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5023" y="817582"/>
            <a:ext cx="6965245" cy="2611418"/>
          </a:xfrm>
        </p:spPr>
        <p:txBody>
          <a:bodyPr>
            <a:normAutofit/>
          </a:bodyPr>
          <a:lstStyle/>
          <a:p>
            <a:pPr algn="l"/>
            <a:r>
              <a:rPr lang="en-US" sz="2000" b="1" dirty="0" smtClean="0">
                <a:solidFill>
                  <a:schemeClr val="tx1"/>
                </a:solidFill>
                <a:latin typeface="Arial Black" panose="020B0A04020102020204" pitchFamily="34" charset="0"/>
              </a:rPr>
              <a:t>COMPREHENSIVE </a:t>
            </a:r>
            <a:r>
              <a:rPr lang="en-US" sz="2000" b="1" dirty="0">
                <a:solidFill>
                  <a:schemeClr val="tx1"/>
                </a:solidFill>
                <a:latin typeface="Arial Black" panose="020B0A04020102020204" pitchFamily="34" charset="0"/>
              </a:rPr>
              <a:t>POPULATION SUMMARY </a:t>
            </a:r>
            <a:r>
              <a:rPr lang="en-US" sz="2400" b="1" dirty="0" smtClean="0">
                <a:solidFill>
                  <a:schemeClr val="tx1"/>
                </a:solidFill>
                <a:latin typeface="Arial Black" panose="020B0A04020102020204" pitchFamily="34" charset="0"/>
              </a:rPr>
              <a:t/>
            </a:r>
            <a:br>
              <a:rPr lang="en-US" sz="2400" b="1" dirty="0" smtClean="0">
                <a:solidFill>
                  <a:schemeClr val="tx1"/>
                </a:solidFill>
                <a:latin typeface="Arial Black" panose="020B0A04020102020204" pitchFamily="34" charset="0"/>
              </a:rPr>
            </a:br>
            <a:r>
              <a:rPr lang="en-US" sz="2400" b="1" dirty="0" smtClean="0">
                <a:solidFill>
                  <a:schemeClr val="tx1"/>
                </a:solidFill>
                <a:latin typeface="Arial Black" panose="020B0A04020102020204" pitchFamily="34" charset="0"/>
              </a:rPr>
              <a:t>	</a:t>
            </a:r>
            <a:r>
              <a:rPr lang="en-US" sz="1400" dirty="0" smtClean="0">
                <a:solidFill>
                  <a:schemeClr val="tx1"/>
                </a:solidFill>
                <a:latin typeface="Arial Black" panose="020B0A04020102020204" pitchFamily="34" charset="0"/>
              </a:rPr>
              <a:t>PAKISTAN COUNTRY OVERVIEW</a:t>
            </a:r>
            <a:r>
              <a:rPr lang="en-US" sz="1400" dirty="0">
                <a:solidFill>
                  <a:schemeClr val="tx1"/>
                </a:solidFill>
                <a:latin typeface="Arial Black" panose="020B0A04020102020204" pitchFamily="34" charset="0"/>
              </a:rPr>
              <a:t/>
            </a:r>
            <a:br>
              <a:rPr lang="en-US" sz="1400" dirty="0">
                <a:solidFill>
                  <a:schemeClr val="tx1"/>
                </a:solidFill>
                <a:latin typeface="Arial Black" panose="020B0A04020102020204" pitchFamily="34" charset="0"/>
              </a:rPr>
            </a:br>
            <a:r>
              <a:rPr lang="en-US" sz="1400" dirty="0" smtClean="0">
                <a:solidFill>
                  <a:schemeClr val="tx1"/>
                </a:solidFill>
                <a:latin typeface="Arial Black" panose="020B0A04020102020204" pitchFamily="34" charset="0"/>
              </a:rPr>
              <a:t/>
            </a:r>
            <a:br>
              <a:rPr lang="en-US" sz="1400" dirty="0" smtClean="0">
                <a:solidFill>
                  <a:schemeClr val="tx1"/>
                </a:solidFill>
                <a:latin typeface="Arial Black" panose="020B0A04020102020204" pitchFamily="34" charset="0"/>
              </a:rPr>
            </a:br>
            <a:r>
              <a:rPr lang="en-US" sz="1400" dirty="0" smtClean="0">
                <a:solidFill>
                  <a:schemeClr val="tx1"/>
                </a:solidFill>
                <a:latin typeface="Arial Black" panose="020B0A04020102020204" pitchFamily="34" charset="0"/>
              </a:rPr>
              <a:t> 	Total </a:t>
            </a:r>
            <a:r>
              <a:rPr lang="en-US" sz="1400" dirty="0">
                <a:solidFill>
                  <a:schemeClr val="tx1"/>
                </a:solidFill>
                <a:latin typeface="Arial Black" panose="020B0A04020102020204" pitchFamily="34" charset="0"/>
              </a:rPr>
              <a:t>Population: 204,410,733 </a:t>
            </a:r>
            <a:r>
              <a:rPr lang="en-US" sz="1400" dirty="0" smtClean="0">
                <a:solidFill>
                  <a:schemeClr val="tx1"/>
                </a:solidFill>
                <a:latin typeface="Arial Black" panose="020B0A04020102020204" pitchFamily="34" charset="0"/>
              </a:rPr>
              <a:t/>
            </a:r>
            <a:br>
              <a:rPr lang="en-US" sz="1400" dirty="0" smtClean="0">
                <a:solidFill>
                  <a:schemeClr val="tx1"/>
                </a:solidFill>
                <a:latin typeface="Arial Black" panose="020B0A04020102020204" pitchFamily="34" charset="0"/>
              </a:rPr>
            </a:br>
            <a:r>
              <a:rPr lang="en-US" sz="1400" dirty="0" smtClean="0">
                <a:solidFill>
                  <a:schemeClr val="tx1"/>
                </a:solidFill>
                <a:latin typeface="Arial Black" panose="020B0A04020102020204" pitchFamily="34" charset="0"/>
              </a:rPr>
              <a:t>	Total </a:t>
            </a:r>
            <a:r>
              <a:rPr lang="en-US" sz="1400" dirty="0">
                <a:solidFill>
                  <a:schemeClr val="tx1"/>
                </a:solidFill>
                <a:latin typeface="Arial Black" panose="020B0A04020102020204" pitchFamily="34" charset="0"/>
              </a:rPr>
              <a:t>Area: 787,779 sq.km </a:t>
            </a:r>
            <a:r>
              <a:rPr lang="en-US" sz="1400" dirty="0" smtClean="0">
                <a:solidFill>
                  <a:schemeClr val="tx1"/>
                </a:solidFill>
                <a:latin typeface="Arial Black" panose="020B0A04020102020204" pitchFamily="34" charset="0"/>
              </a:rPr>
              <a:t/>
            </a:r>
            <a:br>
              <a:rPr lang="en-US" sz="1400" dirty="0" smtClean="0">
                <a:solidFill>
                  <a:schemeClr val="tx1"/>
                </a:solidFill>
                <a:latin typeface="Arial Black" panose="020B0A04020102020204" pitchFamily="34" charset="0"/>
              </a:rPr>
            </a:br>
            <a:r>
              <a:rPr lang="en-US" sz="1400" dirty="0" smtClean="0">
                <a:solidFill>
                  <a:schemeClr val="tx1"/>
                </a:solidFill>
                <a:latin typeface="Arial Black" panose="020B0A04020102020204" pitchFamily="34" charset="0"/>
              </a:rPr>
              <a:t>	Population </a:t>
            </a:r>
            <a:r>
              <a:rPr lang="en-US" sz="1400" dirty="0">
                <a:solidFill>
                  <a:schemeClr val="tx1"/>
                </a:solidFill>
                <a:latin typeface="Arial Black" panose="020B0A04020102020204" pitchFamily="34" charset="0"/>
              </a:rPr>
              <a:t>Density: 259.48 people/sq.km</a:t>
            </a:r>
          </a:p>
        </p:txBody>
      </p:sp>
    </p:spTree>
    <p:extLst>
      <p:ext uri="{BB962C8B-B14F-4D97-AF65-F5344CB8AC3E}">
        <p14:creationId xmlns:p14="http://schemas.microsoft.com/office/powerpoint/2010/main" val="248481576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5023" y="817582"/>
            <a:ext cx="6965245" cy="3983018"/>
          </a:xfrm>
        </p:spPr>
        <p:txBody>
          <a:bodyPr>
            <a:noAutofit/>
          </a:bodyPr>
          <a:lstStyle/>
          <a:p>
            <a:pPr algn="l"/>
            <a:r>
              <a:rPr lang="en-US" sz="2800" b="1" dirty="0" smtClean="0"/>
              <a:t>PROVINCE-WISE BREAKDOWN</a:t>
            </a:r>
            <a:br>
              <a:rPr lang="en-US" sz="2800" b="1" dirty="0" smtClean="0"/>
            </a:br>
            <a:r>
              <a:rPr lang="en-US" sz="2800" b="1" dirty="0" smtClean="0"/>
              <a:t>	</a:t>
            </a:r>
            <a:r>
              <a:rPr lang="en-US" sz="2000" b="1" dirty="0" smtClean="0"/>
              <a:t>BALOCHISTAN</a:t>
            </a:r>
            <a:br>
              <a:rPr lang="en-US" sz="2000" b="1" dirty="0" smtClean="0"/>
            </a:br>
            <a:r>
              <a:rPr lang="en-US" sz="2000" b="1" dirty="0"/>
              <a:t/>
            </a:r>
            <a:br>
              <a:rPr lang="en-US" sz="2000" b="1" dirty="0"/>
            </a:br>
            <a:r>
              <a:rPr lang="en-US" sz="2000" b="1" dirty="0" smtClean="0"/>
              <a:t>	</a:t>
            </a:r>
            <a:r>
              <a:rPr lang="en-US" sz="2000" dirty="0" smtClean="0"/>
              <a:t>Population</a:t>
            </a:r>
            <a:r>
              <a:rPr lang="en-US" sz="2000" dirty="0"/>
              <a:t>: 12,286,335 </a:t>
            </a:r>
            <a:r>
              <a:rPr lang="en-US" sz="2000" dirty="0" smtClean="0"/>
              <a:t/>
            </a:r>
            <a:br>
              <a:rPr lang="en-US" sz="2000" dirty="0" smtClean="0"/>
            </a:br>
            <a:r>
              <a:rPr lang="en-US" sz="2000" dirty="0" smtClean="0"/>
              <a:t>	Area</a:t>
            </a:r>
            <a:r>
              <a:rPr lang="en-US" sz="2000" dirty="0"/>
              <a:t>: 345,464 sq.km </a:t>
            </a:r>
            <a:r>
              <a:rPr lang="en-US" sz="2000" dirty="0" smtClean="0"/>
              <a:t/>
            </a:r>
            <a:br>
              <a:rPr lang="en-US" sz="2000" dirty="0" smtClean="0"/>
            </a:br>
            <a:r>
              <a:rPr lang="en-US" sz="2000" dirty="0" smtClean="0"/>
              <a:t> 	Density</a:t>
            </a:r>
            <a:r>
              <a:rPr lang="en-US" sz="2000" dirty="0"/>
              <a:t>: 35.56 people/sq.km </a:t>
            </a:r>
            <a:r>
              <a:rPr lang="en-US" sz="2000" dirty="0" smtClean="0"/>
              <a:t/>
            </a:r>
            <a:br>
              <a:rPr lang="en-US" sz="2000" dirty="0" smtClean="0"/>
            </a:br>
            <a:r>
              <a:rPr lang="en-US" sz="2000" dirty="0" smtClean="0"/>
              <a:t> 	Urban</a:t>
            </a:r>
            <a:r>
              <a:rPr lang="en-US" sz="2000" dirty="0"/>
              <a:t>: 27.7% </a:t>
            </a:r>
            <a:r>
              <a:rPr lang="en-US" sz="2000" dirty="0" smtClean="0"/>
              <a:t/>
            </a:r>
            <a:br>
              <a:rPr lang="en-US" sz="2000" dirty="0" smtClean="0"/>
            </a:br>
            <a:r>
              <a:rPr lang="en-US" sz="2000" dirty="0" smtClean="0"/>
              <a:t>	 </a:t>
            </a:r>
            <a:r>
              <a:rPr lang="en-US" sz="2000" dirty="0"/>
              <a:t>Rural: 72.3% </a:t>
            </a:r>
            <a:br>
              <a:rPr lang="en-US" sz="2000" dirty="0"/>
            </a:br>
            <a:r>
              <a:rPr lang="en-US" sz="2000" dirty="0" smtClean="0"/>
              <a:t>	Sex </a:t>
            </a:r>
            <a:r>
              <a:rPr lang="en-US" sz="2000" dirty="0"/>
              <a:t>Ratio: 90.3 (females per 100 males)</a:t>
            </a:r>
          </a:p>
        </p:txBody>
      </p:sp>
    </p:spTree>
    <p:extLst>
      <p:ext uri="{BB962C8B-B14F-4D97-AF65-F5344CB8AC3E}">
        <p14:creationId xmlns:p14="http://schemas.microsoft.com/office/powerpoint/2010/main" val="624159247"/>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5023" y="817582"/>
            <a:ext cx="6965245" cy="4668818"/>
          </a:xfrm>
        </p:spPr>
        <p:txBody>
          <a:bodyPr>
            <a:noAutofit/>
          </a:bodyPr>
          <a:lstStyle/>
          <a:p>
            <a:pPr algn="l"/>
            <a:r>
              <a:rPr lang="en-US" sz="2400" b="1" dirty="0" smtClean="0"/>
              <a:t>KPK</a:t>
            </a:r>
            <a:r>
              <a:rPr lang="en-US" sz="2400" dirty="0" smtClean="0"/>
              <a:t/>
            </a:r>
            <a:br>
              <a:rPr lang="en-US" sz="2400" dirty="0" smtClean="0"/>
            </a:br>
            <a:r>
              <a:rPr lang="en-US" sz="2400" dirty="0" smtClean="0"/>
              <a:t>	 </a:t>
            </a:r>
            <a:r>
              <a:rPr lang="en-US" sz="2400" dirty="0"/>
              <a:t>Population: 30,497,911 </a:t>
            </a:r>
            <a:r>
              <a:rPr lang="en-US" sz="2400" dirty="0" smtClean="0"/>
              <a:t/>
            </a:r>
            <a:br>
              <a:rPr lang="en-US" sz="2400" dirty="0" smtClean="0"/>
            </a:br>
            <a:r>
              <a:rPr lang="en-US" sz="2400" dirty="0" smtClean="0"/>
              <a:t>	Area</a:t>
            </a:r>
            <a:r>
              <a:rPr lang="en-US" sz="2400" dirty="0"/>
              <a:t>: 74,957 sq.km </a:t>
            </a:r>
            <a:r>
              <a:rPr lang="en-US" sz="2400" dirty="0" smtClean="0"/>
              <a:t/>
            </a:r>
            <a:br>
              <a:rPr lang="en-US" sz="2400" dirty="0" smtClean="0"/>
            </a:br>
            <a:r>
              <a:rPr lang="en-US" sz="2400" dirty="0" smtClean="0"/>
              <a:t>	 </a:t>
            </a:r>
            <a:r>
              <a:rPr lang="en-US" sz="2400" dirty="0"/>
              <a:t>Density: 406.87 people/sq.km </a:t>
            </a:r>
            <a:r>
              <a:rPr lang="en-US" sz="2400" dirty="0" smtClean="0"/>
              <a:t/>
            </a:r>
            <a:br>
              <a:rPr lang="en-US" sz="2400" dirty="0" smtClean="0"/>
            </a:br>
            <a:r>
              <a:rPr lang="en-US" sz="2400" dirty="0" smtClean="0"/>
              <a:t> 	Urban</a:t>
            </a:r>
            <a:r>
              <a:rPr lang="en-US" sz="2400" dirty="0"/>
              <a:t>: 18.4% </a:t>
            </a:r>
            <a:r>
              <a:rPr lang="en-US" sz="2400" dirty="0" smtClean="0"/>
              <a:t/>
            </a:r>
            <a:br>
              <a:rPr lang="en-US" sz="2400" dirty="0" smtClean="0"/>
            </a:br>
            <a:r>
              <a:rPr lang="en-US" sz="2400" dirty="0" smtClean="0"/>
              <a:t>	Rural</a:t>
            </a:r>
            <a:r>
              <a:rPr lang="en-US" sz="2400" dirty="0"/>
              <a:t>: 81.6% </a:t>
            </a:r>
            <a:br>
              <a:rPr lang="en-US" sz="2400" dirty="0"/>
            </a:br>
            <a:r>
              <a:rPr lang="en-US" sz="2400" dirty="0" smtClean="0"/>
              <a:t>	Sex </a:t>
            </a:r>
            <a:r>
              <a:rPr lang="en-US" sz="2400" dirty="0"/>
              <a:t>Ratio: 97.8 (females per 100 males)</a:t>
            </a:r>
          </a:p>
        </p:txBody>
      </p:sp>
    </p:spTree>
    <p:extLst>
      <p:ext uri="{BB962C8B-B14F-4D97-AF65-F5344CB8AC3E}">
        <p14:creationId xmlns:p14="http://schemas.microsoft.com/office/powerpoint/2010/main" val="3805038801"/>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5023" y="817582"/>
            <a:ext cx="6965245" cy="5049818"/>
          </a:xfrm>
        </p:spPr>
        <p:txBody>
          <a:bodyPr>
            <a:normAutofit/>
          </a:bodyPr>
          <a:lstStyle/>
          <a:p>
            <a:pPr algn="l"/>
            <a:r>
              <a:rPr lang="en-US" sz="2400" b="1" dirty="0" smtClean="0"/>
              <a:t>KPK/FATA</a:t>
            </a:r>
            <a:r>
              <a:rPr lang="en-US" sz="2400" dirty="0"/>
              <a:t/>
            </a:r>
            <a:br>
              <a:rPr lang="en-US" sz="2400" dirty="0"/>
            </a:br>
            <a:r>
              <a:rPr lang="en-US" sz="2400" dirty="0" smtClean="0"/>
              <a:t> 	Population</a:t>
            </a:r>
            <a:r>
              <a:rPr lang="en-US" sz="2400" dirty="0"/>
              <a:t>: 4,727,619 </a:t>
            </a:r>
            <a:r>
              <a:rPr lang="en-US" sz="2400" dirty="0" smtClean="0"/>
              <a:t/>
            </a:r>
            <a:br>
              <a:rPr lang="en-US" sz="2400" dirty="0" smtClean="0"/>
            </a:br>
            <a:r>
              <a:rPr lang="en-US" sz="2400" dirty="0" smtClean="0"/>
              <a:t>	Area</a:t>
            </a:r>
            <a:r>
              <a:rPr lang="en-US" sz="2400" dirty="0"/>
              <a:t>: 24,529 sq.km </a:t>
            </a:r>
            <a:r>
              <a:rPr lang="en-US" sz="2400" dirty="0" smtClean="0"/>
              <a:t/>
            </a:r>
            <a:br>
              <a:rPr lang="en-US" sz="2400" dirty="0" smtClean="0"/>
            </a:br>
            <a:r>
              <a:rPr lang="en-US" sz="2400" dirty="0" smtClean="0"/>
              <a:t>	 </a:t>
            </a:r>
            <a:r>
              <a:rPr lang="en-US" sz="2400" dirty="0"/>
              <a:t>Density: 192.74 people/sq.km </a:t>
            </a:r>
            <a:r>
              <a:rPr lang="en-US" sz="2400" dirty="0" smtClean="0"/>
              <a:t/>
            </a:r>
            <a:br>
              <a:rPr lang="en-US" sz="2400" dirty="0" smtClean="0"/>
            </a:br>
            <a:r>
              <a:rPr lang="en-US" sz="2400" dirty="0" smtClean="0"/>
              <a:t>	Urban</a:t>
            </a:r>
            <a:r>
              <a:rPr lang="en-US" sz="2400" dirty="0"/>
              <a:t>: 3.0% </a:t>
            </a:r>
            <a:r>
              <a:rPr lang="en-US" sz="2400" dirty="0" smtClean="0"/>
              <a:t/>
            </a:r>
            <a:br>
              <a:rPr lang="en-US" sz="2400" dirty="0" smtClean="0"/>
            </a:br>
            <a:r>
              <a:rPr lang="en-US" sz="2400" dirty="0" smtClean="0"/>
              <a:t> 	Rural</a:t>
            </a:r>
            <a:r>
              <a:rPr lang="en-US" sz="2400" dirty="0"/>
              <a:t>: 97.0% </a:t>
            </a:r>
            <a:br>
              <a:rPr lang="en-US" sz="2400" dirty="0"/>
            </a:br>
            <a:r>
              <a:rPr lang="en-US" sz="2400" dirty="0" smtClean="0"/>
              <a:t>	Sex </a:t>
            </a:r>
            <a:r>
              <a:rPr lang="en-US" sz="2400" dirty="0"/>
              <a:t>Ratio: 95.5 (females per 100 males)</a:t>
            </a:r>
          </a:p>
        </p:txBody>
      </p:sp>
    </p:spTree>
    <p:extLst>
      <p:ext uri="{BB962C8B-B14F-4D97-AF65-F5344CB8AC3E}">
        <p14:creationId xmlns:p14="http://schemas.microsoft.com/office/powerpoint/2010/main" val="3658615719"/>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5023" y="817582"/>
            <a:ext cx="6965245" cy="4821218"/>
          </a:xfrm>
        </p:spPr>
        <p:txBody>
          <a:bodyPr>
            <a:normAutofit/>
          </a:bodyPr>
          <a:lstStyle/>
          <a:p>
            <a:pPr algn="l"/>
            <a:r>
              <a:rPr lang="en-US" sz="2400" b="1" dirty="0" smtClean="0"/>
              <a:t>PUNJAB</a:t>
            </a:r>
            <a:r>
              <a:rPr lang="en-US" sz="2400" dirty="0"/>
              <a:t/>
            </a:r>
            <a:br>
              <a:rPr lang="en-US" sz="2400" dirty="0"/>
            </a:br>
            <a:r>
              <a:rPr lang="en-US" sz="2400" dirty="0"/>
              <a:t>  </a:t>
            </a:r>
            <a:r>
              <a:rPr lang="en-US" sz="2400" dirty="0" smtClean="0"/>
              <a:t>	 Population</a:t>
            </a:r>
            <a:r>
              <a:rPr lang="en-US" sz="2400" dirty="0"/>
              <a:t>: 109,054,593</a:t>
            </a:r>
            <a:br>
              <a:rPr lang="en-US" sz="2400" dirty="0"/>
            </a:br>
            <a:r>
              <a:rPr lang="en-US" sz="2400" dirty="0"/>
              <a:t>   </a:t>
            </a:r>
            <a:r>
              <a:rPr lang="en-US" sz="2400" dirty="0" smtClean="0"/>
              <a:t>	Area</a:t>
            </a:r>
            <a:r>
              <a:rPr lang="en-US" sz="2400" dirty="0"/>
              <a:t>: 202,693 sq.km</a:t>
            </a:r>
            <a:br>
              <a:rPr lang="en-US" sz="2400" dirty="0"/>
            </a:br>
            <a:r>
              <a:rPr lang="en-US" sz="2400" dirty="0"/>
              <a:t>   </a:t>
            </a:r>
            <a:r>
              <a:rPr lang="en-US" sz="2400" dirty="0" smtClean="0"/>
              <a:t>	 </a:t>
            </a:r>
            <a:r>
              <a:rPr lang="en-US" sz="2400" dirty="0"/>
              <a:t>Density: 538.03 people/sq.km</a:t>
            </a:r>
            <a:br>
              <a:rPr lang="en-US" sz="2400" dirty="0"/>
            </a:br>
            <a:r>
              <a:rPr lang="en-US" sz="2400" dirty="0"/>
              <a:t>  </a:t>
            </a:r>
            <a:r>
              <a:rPr lang="en-US" sz="2400" dirty="0" smtClean="0"/>
              <a:t>	 Urban</a:t>
            </a:r>
            <a:r>
              <a:rPr lang="en-US" sz="2400" dirty="0"/>
              <a:t>: 37.0%</a:t>
            </a:r>
            <a:br>
              <a:rPr lang="en-US" sz="2400" dirty="0"/>
            </a:br>
            <a:r>
              <a:rPr lang="en-US" sz="2400" dirty="0"/>
              <a:t>  </a:t>
            </a:r>
            <a:r>
              <a:rPr lang="en-US" sz="2400" dirty="0" smtClean="0"/>
              <a:t>	 Rural</a:t>
            </a:r>
            <a:r>
              <a:rPr lang="en-US" sz="2400" dirty="0"/>
              <a:t>: 63.0%</a:t>
            </a:r>
            <a:br>
              <a:rPr lang="en-US" sz="2400" dirty="0"/>
            </a:br>
            <a:r>
              <a:rPr lang="en-US" sz="2400" dirty="0"/>
              <a:t>  </a:t>
            </a:r>
            <a:r>
              <a:rPr lang="en-US" sz="2400" dirty="0" smtClean="0"/>
              <a:t>	 Sex </a:t>
            </a:r>
            <a:r>
              <a:rPr lang="en-US" sz="2400" dirty="0"/>
              <a:t>Ratio: 96.7 (females per 100 males)</a:t>
            </a:r>
            <a:br>
              <a:rPr lang="en-US" sz="2400" dirty="0"/>
            </a:br>
            <a:endParaRPr lang="en-US" sz="2400" dirty="0"/>
          </a:p>
        </p:txBody>
      </p:sp>
    </p:spTree>
    <p:extLst>
      <p:ext uri="{BB962C8B-B14F-4D97-AF65-F5344CB8AC3E}">
        <p14:creationId xmlns:p14="http://schemas.microsoft.com/office/powerpoint/2010/main" val="513118331"/>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5023" y="817582"/>
            <a:ext cx="6965245" cy="5202218"/>
          </a:xfrm>
        </p:spPr>
        <p:txBody>
          <a:bodyPr>
            <a:normAutofit/>
          </a:bodyPr>
          <a:lstStyle/>
          <a:p>
            <a:pPr algn="l"/>
            <a:r>
              <a:rPr lang="en-US" sz="2400" b="1" dirty="0"/>
              <a:t> </a:t>
            </a:r>
            <a:r>
              <a:rPr lang="en-US" sz="2400" b="1" dirty="0" smtClean="0"/>
              <a:t>SINDH</a:t>
            </a:r>
            <a:r>
              <a:rPr lang="en-US" sz="2400" dirty="0"/>
              <a:t/>
            </a:r>
            <a:br>
              <a:rPr lang="en-US" sz="2400" dirty="0"/>
            </a:br>
            <a:r>
              <a:rPr lang="en-US" sz="2400" dirty="0"/>
              <a:t>   </a:t>
            </a:r>
            <a:r>
              <a:rPr lang="en-US" sz="2400" dirty="0" smtClean="0"/>
              <a:t>	    Population</a:t>
            </a:r>
            <a:r>
              <a:rPr lang="en-US" sz="2400" dirty="0"/>
              <a:t>: 47,844,275</a:t>
            </a:r>
            <a:br>
              <a:rPr lang="en-US" sz="2400" dirty="0"/>
            </a:br>
            <a:r>
              <a:rPr lang="en-US" sz="2400" dirty="0" smtClean="0"/>
              <a:t>	   Area</a:t>
            </a:r>
            <a:r>
              <a:rPr lang="en-US" sz="2400" dirty="0"/>
              <a:t>: 140,136 sq.km</a:t>
            </a:r>
            <a:br>
              <a:rPr lang="en-US" sz="2400" dirty="0"/>
            </a:br>
            <a:r>
              <a:rPr lang="en-US" sz="2400" dirty="0"/>
              <a:t>   </a:t>
            </a:r>
            <a:r>
              <a:rPr lang="en-US" sz="2400" dirty="0" smtClean="0"/>
              <a:t>	  </a:t>
            </a:r>
            <a:r>
              <a:rPr lang="en-US" sz="2400" dirty="0"/>
              <a:t>Density: 341.41 people/sq.km</a:t>
            </a:r>
            <a:br>
              <a:rPr lang="en-US" sz="2400" dirty="0"/>
            </a:br>
            <a:r>
              <a:rPr lang="en-US" sz="2400" dirty="0"/>
              <a:t>   </a:t>
            </a:r>
            <a:r>
              <a:rPr lang="en-US" sz="2400" dirty="0" smtClean="0"/>
              <a:t>  	  Urban</a:t>
            </a:r>
            <a:r>
              <a:rPr lang="en-US" sz="2400" dirty="0"/>
              <a:t>: 51.9%</a:t>
            </a:r>
            <a:br>
              <a:rPr lang="en-US" sz="2400" dirty="0"/>
            </a:br>
            <a:r>
              <a:rPr lang="en-US" sz="2400" dirty="0"/>
              <a:t>  </a:t>
            </a:r>
            <a:r>
              <a:rPr lang="en-US" sz="2400" dirty="0" smtClean="0"/>
              <a:t>	  </a:t>
            </a:r>
            <a:r>
              <a:rPr lang="en-US" sz="2400" dirty="0"/>
              <a:t>Rural: 48.1%</a:t>
            </a:r>
            <a:br>
              <a:rPr lang="en-US" sz="2400" dirty="0"/>
            </a:br>
            <a:r>
              <a:rPr lang="en-US" sz="2400" dirty="0"/>
              <a:t>  </a:t>
            </a:r>
            <a:r>
              <a:rPr lang="en-US" sz="2400" dirty="0" smtClean="0"/>
              <a:t>	  </a:t>
            </a:r>
            <a:r>
              <a:rPr lang="en-US" sz="2400" dirty="0"/>
              <a:t>Sex Ratio: 92.3 (females per 100 males)</a:t>
            </a:r>
          </a:p>
        </p:txBody>
      </p:sp>
    </p:spTree>
    <p:extLst>
      <p:ext uri="{BB962C8B-B14F-4D97-AF65-F5344CB8AC3E}">
        <p14:creationId xmlns:p14="http://schemas.microsoft.com/office/powerpoint/2010/main" val="2335787264"/>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0" y="762000"/>
            <a:ext cx="7210777" cy="380999"/>
          </a:xfrm>
        </p:spPr>
        <p:txBody>
          <a:bodyPr>
            <a:normAutofit fontScale="90000"/>
          </a:bodyPr>
          <a:lstStyle/>
          <a:p>
            <a:pPr marL="457200" indent="-457200">
              <a:buFont typeface="Wingdings" panose="05000000000000000000" pitchFamily="2" charset="2"/>
              <a:buChar char="ü"/>
            </a:pPr>
            <a:r>
              <a:rPr lang="en-US" sz="2800" dirty="0"/>
              <a:t> </a:t>
            </a:r>
            <a:r>
              <a:rPr lang="en-US" sz="2800" dirty="0" smtClean="0"/>
              <a:t>Divisions </a:t>
            </a:r>
            <a:r>
              <a:rPr lang="en-US" sz="2800" dirty="0"/>
              <a:t>exist within </a:t>
            </a:r>
            <a:r>
              <a:rPr lang="en-US" sz="2800" dirty="0" smtClean="0"/>
              <a:t>Pakistan</a:t>
            </a:r>
            <a:endParaRPr lang="en-US" sz="2800" dirty="0"/>
          </a:p>
        </p:txBody>
      </p:sp>
      <p:sp>
        <p:nvSpPr>
          <p:cNvPr id="3" name="Content Placeholder 2"/>
          <p:cNvSpPr>
            <a:spLocks noGrp="1"/>
          </p:cNvSpPr>
          <p:nvPr>
            <p:ph idx="1"/>
          </p:nvPr>
        </p:nvSpPr>
        <p:spPr>
          <a:xfrm>
            <a:off x="1066800" y="1371600"/>
            <a:ext cx="7010400" cy="4724400"/>
          </a:xfrm>
        </p:spPr>
        <p:txBody>
          <a:bodyPr>
            <a:noAutofit/>
          </a:bodyPr>
          <a:lstStyle/>
          <a:p>
            <a:pPr marL="0" indent="0">
              <a:buNone/>
            </a:pPr>
            <a:r>
              <a:rPr lang="en-US" sz="900" b="1" dirty="0"/>
              <a:t>There are 28 divisions in </a:t>
            </a:r>
            <a:r>
              <a:rPr lang="en-US" sz="900" b="1" dirty="0" smtClean="0"/>
              <a:t>Pakistan</a:t>
            </a:r>
          </a:p>
          <a:p>
            <a:pPr marL="457200" indent="-457200">
              <a:buFont typeface="+mj-lt"/>
              <a:buAutoNum type="arabicPeriod"/>
            </a:pPr>
            <a:r>
              <a:rPr lang="en-US" sz="900" dirty="0"/>
              <a:t>BAHAWALPUR </a:t>
            </a:r>
            <a:r>
              <a:rPr lang="en-US" sz="900" dirty="0" smtClean="0"/>
              <a:t>DIVISION</a:t>
            </a:r>
          </a:p>
          <a:p>
            <a:pPr marL="457200" indent="-457200">
              <a:buFont typeface="+mj-lt"/>
              <a:buAutoNum type="arabicPeriod"/>
            </a:pPr>
            <a:r>
              <a:rPr lang="en-US" sz="900" dirty="0" smtClean="0"/>
              <a:t>D.G.KHAN DIVISION</a:t>
            </a:r>
          </a:p>
          <a:p>
            <a:pPr marL="457200" indent="-457200">
              <a:buFont typeface="+mj-lt"/>
              <a:buAutoNum type="arabicPeriod"/>
            </a:pPr>
            <a:r>
              <a:rPr lang="en-US" sz="900" dirty="0" smtClean="0"/>
              <a:t>FAISALABAD DIVISION</a:t>
            </a:r>
          </a:p>
          <a:p>
            <a:pPr marL="457200" indent="-457200">
              <a:buFont typeface="+mj-lt"/>
              <a:buAutoNum type="arabicPeriod"/>
            </a:pPr>
            <a:r>
              <a:rPr lang="en-US" sz="900" dirty="0" smtClean="0"/>
              <a:t>GUJRANWALA DIVISION</a:t>
            </a:r>
          </a:p>
          <a:p>
            <a:pPr marL="457200" indent="-457200">
              <a:buFont typeface="+mj-lt"/>
              <a:buAutoNum type="arabicPeriod"/>
            </a:pPr>
            <a:r>
              <a:rPr lang="en-US" sz="900" dirty="0" smtClean="0"/>
              <a:t>LAHORE DIVISION</a:t>
            </a:r>
          </a:p>
          <a:p>
            <a:pPr marL="457200" indent="-457200">
              <a:buFont typeface="+mj-lt"/>
              <a:buAutoNum type="arabicPeriod"/>
            </a:pPr>
            <a:r>
              <a:rPr lang="en-US" sz="900" dirty="0" smtClean="0"/>
              <a:t>MULTAN DIVISION</a:t>
            </a:r>
          </a:p>
          <a:p>
            <a:pPr marL="457200" indent="-457200">
              <a:buFont typeface="+mj-lt"/>
              <a:buAutoNum type="arabicPeriod"/>
            </a:pPr>
            <a:r>
              <a:rPr lang="en-US" sz="900" dirty="0" smtClean="0"/>
              <a:t>RAWALPINDI DIVISION</a:t>
            </a:r>
          </a:p>
          <a:p>
            <a:pPr marL="457200" indent="-457200">
              <a:buFont typeface="+mj-lt"/>
              <a:buAutoNum type="arabicPeriod"/>
            </a:pPr>
            <a:r>
              <a:rPr lang="en-US" sz="900" dirty="0" smtClean="0"/>
              <a:t>SAHIWAL DIVISION</a:t>
            </a:r>
          </a:p>
          <a:p>
            <a:pPr marL="457200" indent="-457200">
              <a:buFont typeface="+mj-lt"/>
              <a:buAutoNum type="arabicPeriod"/>
            </a:pPr>
            <a:r>
              <a:rPr lang="en-US" sz="900" dirty="0" smtClean="0"/>
              <a:t>SARGODHA DIVISION</a:t>
            </a:r>
          </a:p>
          <a:p>
            <a:pPr marL="457200" indent="-457200">
              <a:buFont typeface="+mj-lt"/>
              <a:buAutoNum type="arabicPeriod"/>
            </a:pPr>
            <a:r>
              <a:rPr lang="en-US" sz="900" dirty="0" smtClean="0"/>
              <a:t>Badin Division</a:t>
            </a:r>
          </a:p>
          <a:p>
            <a:pPr marL="457200" indent="-457200">
              <a:buFont typeface="+mj-lt"/>
              <a:buAutoNum type="arabicPeriod"/>
            </a:pPr>
            <a:r>
              <a:rPr lang="en-US" sz="900" dirty="0" smtClean="0"/>
              <a:t>Hyderabad Division</a:t>
            </a:r>
          </a:p>
          <a:p>
            <a:pPr marL="457200" indent="-457200">
              <a:buFont typeface="+mj-lt"/>
              <a:buAutoNum type="arabicPeriod"/>
            </a:pPr>
            <a:r>
              <a:rPr lang="en-US" sz="900" dirty="0" smtClean="0"/>
              <a:t>Karachi Division</a:t>
            </a:r>
          </a:p>
          <a:p>
            <a:pPr marL="457200" indent="-457200">
              <a:buFont typeface="+mj-lt"/>
              <a:buAutoNum type="arabicPeriod"/>
            </a:pPr>
            <a:r>
              <a:rPr lang="en-US" sz="900" dirty="0" err="1" smtClean="0"/>
              <a:t>Larkana</a:t>
            </a:r>
            <a:r>
              <a:rPr lang="en-US" sz="900" dirty="0" smtClean="0"/>
              <a:t> Division</a:t>
            </a:r>
          </a:p>
          <a:p>
            <a:pPr marL="457200" indent="-457200">
              <a:buFont typeface="+mj-lt"/>
              <a:buAutoNum type="arabicPeriod"/>
            </a:pPr>
            <a:r>
              <a:rPr lang="en-US" sz="900" dirty="0" err="1" smtClean="0"/>
              <a:t>Mirpurkhas</a:t>
            </a:r>
            <a:r>
              <a:rPr lang="en-US" sz="900" dirty="0" smtClean="0"/>
              <a:t> Division</a:t>
            </a:r>
          </a:p>
          <a:p>
            <a:pPr marL="457200" indent="-457200">
              <a:buFont typeface="+mj-lt"/>
              <a:buAutoNum type="arabicPeriod"/>
            </a:pPr>
            <a:r>
              <a:rPr lang="en-US" sz="900" dirty="0" smtClean="0"/>
              <a:t>Shaheed </a:t>
            </a:r>
            <a:r>
              <a:rPr lang="en-US" sz="900" dirty="0" err="1"/>
              <a:t>Benazirabad</a:t>
            </a:r>
            <a:r>
              <a:rPr lang="en-US" sz="900" dirty="0"/>
              <a:t> </a:t>
            </a:r>
            <a:r>
              <a:rPr lang="en-US" sz="900" dirty="0" smtClean="0"/>
              <a:t>Division</a:t>
            </a:r>
          </a:p>
          <a:p>
            <a:pPr marL="457200" indent="-457200">
              <a:buFont typeface="+mj-lt"/>
              <a:buAutoNum type="arabicPeriod"/>
            </a:pPr>
            <a:r>
              <a:rPr lang="en-US" sz="900" dirty="0" smtClean="0"/>
              <a:t>Sukkur Division</a:t>
            </a:r>
          </a:p>
          <a:p>
            <a:pPr marL="457200" indent="-457200">
              <a:buFont typeface="+mj-lt"/>
              <a:buAutoNum type="arabicPeriod"/>
            </a:pPr>
            <a:r>
              <a:rPr lang="en-US" sz="900" dirty="0" err="1" smtClean="0"/>
              <a:t>Makran</a:t>
            </a:r>
            <a:r>
              <a:rPr lang="en-US" sz="900" dirty="0" smtClean="0"/>
              <a:t> Division</a:t>
            </a:r>
          </a:p>
          <a:p>
            <a:pPr marL="457200" indent="-457200">
              <a:buFont typeface="+mj-lt"/>
              <a:buAutoNum type="arabicPeriod"/>
            </a:pPr>
            <a:r>
              <a:rPr lang="en-US" sz="900" dirty="0" err="1" smtClean="0"/>
              <a:t>Kalat</a:t>
            </a:r>
            <a:r>
              <a:rPr lang="en-US" sz="900" dirty="0" smtClean="0"/>
              <a:t> Division</a:t>
            </a:r>
          </a:p>
          <a:p>
            <a:pPr marL="457200" indent="-457200">
              <a:buFont typeface="+mj-lt"/>
              <a:buAutoNum type="arabicPeriod"/>
            </a:pPr>
            <a:r>
              <a:rPr lang="en-US" sz="900" dirty="0" err="1" smtClean="0"/>
              <a:t>Naseerabad</a:t>
            </a:r>
            <a:r>
              <a:rPr lang="en-US" sz="900" dirty="0" smtClean="0"/>
              <a:t> Division</a:t>
            </a:r>
          </a:p>
          <a:p>
            <a:pPr marL="457200" indent="-457200">
              <a:buFont typeface="+mj-lt"/>
              <a:buAutoNum type="arabicPeriod"/>
            </a:pPr>
            <a:r>
              <a:rPr lang="en-US" sz="900" dirty="0" smtClean="0"/>
              <a:t>Quetta Division</a:t>
            </a:r>
          </a:p>
          <a:p>
            <a:pPr marL="457200" indent="-457200">
              <a:buFont typeface="+mj-lt"/>
              <a:buAutoNum type="arabicPeriod"/>
            </a:pPr>
            <a:r>
              <a:rPr lang="en-US" sz="900" dirty="0" err="1" smtClean="0"/>
              <a:t>Zhob</a:t>
            </a:r>
            <a:r>
              <a:rPr lang="en-US" sz="900" dirty="0" smtClean="0"/>
              <a:t> Division‘</a:t>
            </a:r>
          </a:p>
          <a:p>
            <a:pPr marL="457200" indent="-457200">
              <a:buFont typeface="+mj-lt"/>
              <a:buAutoNum type="arabicPeriod"/>
            </a:pPr>
            <a:r>
              <a:rPr lang="en-US" sz="900" dirty="0" smtClean="0"/>
              <a:t>BANNU DIVISION</a:t>
            </a:r>
          </a:p>
          <a:p>
            <a:pPr marL="457200" indent="-457200">
              <a:buFont typeface="+mj-lt"/>
              <a:buAutoNum type="arabicPeriod"/>
            </a:pPr>
            <a:r>
              <a:rPr lang="en-US" sz="900" dirty="0" smtClean="0"/>
              <a:t>DERA </a:t>
            </a:r>
            <a:r>
              <a:rPr lang="en-US" sz="900" dirty="0"/>
              <a:t>ISMAIL KHAN </a:t>
            </a:r>
            <a:r>
              <a:rPr lang="en-US" sz="900" dirty="0" smtClean="0"/>
              <a:t>DIVISION</a:t>
            </a:r>
          </a:p>
          <a:p>
            <a:pPr marL="457200" indent="-457200">
              <a:buFont typeface="+mj-lt"/>
              <a:buAutoNum type="arabicPeriod"/>
            </a:pPr>
            <a:r>
              <a:rPr lang="en-US" sz="900" dirty="0" smtClean="0"/>
              <a:t>HAZARA DIVISION</a:t>
            </a:r>
          </a:p>
          <a:p>
            <a:pPr marL="457200" indent="-457200">
              <a:buFont typeface="+mj-lt"/>
              <a:buAutoNum type="arabicPeriod"/>
            </a:pPr>
            <a:r>
              <a:rPr lang="en-US" sz="900" dirty="0" smtClean="0"/>
              <a:t>KOHAT DIVISION</a:t>
            </a:r>
          </a:p>
          <a:p>
            <a:pPr marL="457200" indent="-457200">
              <a:buFont typeface="+mj-lt"/>
              <a:buAutoNum type="arabicPeriod"/>
            </a:pPr>
            <a:r>
              <a:rPr lang="en-US" sz="900" dirty="0" smtClean="0"/>
              <a:t>MARDAN DIVISION</a:t>
            </a:r>
          </a:p>
          <a:p>
            <a:pPr marL="457200" indent="-457200">
              <a:buFont typeface="+mj-lt"/>
              <a:buAutoNum type="arabicPeriod"/>
            </a:pPr>
            <a:r>
              <a:rPr lang="en-US" sz="900" dirty="0" smtClean="0"/>
              <a:t>PESHAWAR DIVISION</a:t>
            </a:r>
          </a:p>
          <a:p>
            <a:pPr marL="457200" indent="-457200">
              <a:buFont typeface="+mj-lt"/>
              <a:buAutoNum type="arabicPeriod"/>
            </a:pPr>
            <a:r>
              <a:rPr lang="en-US" sz="900" dirty="0" smtClean="0"/>
              <a:t>MALAKAND DIVISION</a:t>
            </a:r>
            <a:endParaRPr lang="en-US" sz="900" dirty="0"/>
          </a:p>
        </p:txBody>
      </p:sp>
    </p:spTree>
    <p:extLst>
      <p:ext uri="{BB962C8B-B14F-4D97-AF65-F5344CB8AC3E}">
        <p14:creationId xmlns:p14="http://schemas.microsoft.com/office/powerpoint/2010/main" val="1143635008"/>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5023" y="817582"/>
            <a:ext cx="6965245" cy="401617"/>
          </a:xfrm>
        </p:spPr>
        <p:txBody>
          <a:bodyPr>
            <a:normAutofit fontScale="90000"/>
          </a:bodyPr>
          <a:lstStyle/>
          <a:p>
            <a:r>
              <a:rPr lang="en-US" sz="2800" dirty="0"/>
              <a:t> </a:t>
            </a:r>
          </a:p>
        </p:txBody>
      </p:sp>
      <p:sp>
        <p:nvSpPr>
          <p:cNvPr id="3" name="Content Placeholder 2"/>
          <p:cNvSpPr>
            <a:spLocks noGrp="1"/>
          </p:cNvSpPr>
          <p:nvPr>
            <p:ph idx="1"/>
          </p:nvPr>
        </p:nvSpPr>
        <p:spPr>
          <a:xfrm>
            <a:off x="914400" y="1295400"/>
            <a:ext cx="7239000" cy="3603812"/>
          </a:xfrm>
        </p:spPr>
        <p:txBody>
          <a:bodyPr>
            <a:normAutofit/>
          </a:bodyPr>
          <a:lstStyle/>
          <a:p>
            <a:pPr>
              <a:buFont typeface="Wingdings" panose="05000000000000000000" pitchFamily="2" charset="2"/>
              <a:buChar char="ü"/>
            </a:pPr>
            <a:r>
              <a:rPr lang="en-US" dirty="0" smtClean="0"/>
              <a:t>The </a:t>
            </a:r>
            <a:r>
              <a:rPr lang="en-US" dirty="0"/>
              <a:t>Total Number Of Districts In Pakistan</a:t>
            </a:r>
            <a:endParaRPr lang="en-US" dirty="0" smtClean="0"/>
          </a:p>
          <a:p>
            <a:pPr marL="0" indent="0">
              <a:buNone/>
            </a:pPr>
            <a:r>
              <a:rPr lang="en-US" dirty="0" smtClean="0"/>
              <a:t>There </a:t>
            </a:r>
            <a:r>
              <a:rPr lang="en-US" dirty="0"/>
              <a:t>are 131 districts in </a:t>
            </a:r>
            <a:r>
              <a:rPr lang="en-US" dirty="0" smtClean="0"/>
              <a:t>Pakistan</a:t>
            </a:r>
          </a:p>
          <a:p>
            <a:pPr>
              <a:buFont typeface="Wingdings" panose="05000000000000000000" pitchFamily="2" charset="2"/>
              <a:buChar char="ü"/>
            </a:pPr>
            <a:r>
              <a:rPr lang="en-US" dirty="0"/>
              <a:t>S</a:t>
            </a:r>
            <a:r>
              <a:rPr lang="en-US" dirty="0" smtClean="0"/>
              <a:t>ub-divisions </a:t>
            </a:r>
            <a:r>
              <a:rPr lang="en-US" dirty="0"/>
              <a:t>are there in </a:t>
            </a:r>
            <a:r>
              <a:rPr lang="en-US" dirty="0" smtClean="0"/>
              <a:t>Pakistan</a:t>
            </a:r>
          </a:p>
          <a:p>
            <a:pPr marL="0" indent="0">
              <a:buNone/>
            </a:pPr>
            <a:r>
              <a:rPr lang="en-US" i="1" dirty="0" smtClean="0"/>
              <a:t>There </a:t>
            </a:r>
            <a:r>
              <a:rPr lang="en-US" i="1" dirty="0"/>
              <a:t>are 528 sub-divisions in Pakistan</a:t>
            </a:r>
            <a:endParaRPr lang="en-US" b="1" dirty="0"/>
          </a:p>
        </p:txBody>
      </p:sp>
    </p:spTree>
    <p:extLst>
      <p:ext uri="{BB962C8B-B14F-4D97-AF65-F5344CB8AC3E}">
        <p14:creationId xmlns:p14="http://schemas.microsoft.com/office/powerpoint/2010/main" val="1981032857"/>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marL="457200" indent="-457200">
              <a:buFont typeface="Wingdings" panose="05000000000000000000" pitchFamily="2" charset="2"/>
              <a:buChar char="ü"/>
            </a:pPr>
            <a:r>
              <a:rPr lang="en-US" sz="3200" b="1" dirty="0"/>
              <a:t>Number of </a:t>
            </a:r>
            <a:r>
              <a:rPr lang="en-US" sz="3200" b="1" dirty="0" smtClean="0"/>
              <a:t>Divisions </a:t>
            </a:r>
            <a:r>
              <a:rPr lang="en-US" sz="3200" b="1" dirty="0"/>
              <a:t>in each </a:t>
            </a:r>
            <a:r>
              <a:rPr lang="en-US" sz="3200" b="1" dirty="0" smtClean="0"/>
              <a:t>Province</a:t>
            </a:r>
            <a:endParaRPr lang="en-US" sz="3200" b="1" dirty="0"/>
          </a:p>
        </p:txBody>
      </p:sp>
      <p:sp>
        <p:nvSpPr>
          <p:cNvPr id="3" name="Content Placeholder 2"/>
          <p:cNvSpPr>
            <a:spLocks noGrp="1"/>
          </p:cNvSpPr>
          <p:nvPr>
            <p:ph idx="1"/>
          </p:nvPr>
        </p:nvSpPr>
        <p:spPr/>
        <p:txBody>
          <a:bodyPr>
            <a:normAutofit/>
          </a:bodyPr>
          <a:lstStyle/>
          <a:p>
            <a:pPr marL="0" indent="0">
              <a:buNone/>
            </a:pPr>
            <a:r>
              <a:rPr lang="en-US" sz="2000" b="1" dirty="0" smtClean="0"/>
              <a:t>PROVINCE 		DIVISIONS</a:t>
            </a:r>
          </a:p>
          <a:p>
            <a:pPr marL="457200" indent="-457200">
              <a:buFont typeface="+mj-lt"/>
              <a:buAutoNum type="arabicParenR"/>
            </a:pPr>
            <a:r>
              <a:rPr lang="en-US" sz="2000" dirty="0" smtClean="0"/>
              <a:t>BALOCHISTAN		 5</a:t>
            </a:r>
          </a:p>
          <a:p>
            <a:pPr marL="457200" indent="-457200">
              <a:buFont typeface="+mj-lt"/>
              <a:buAutoNum type="arabicParenR"/>
            </a:pPr>
            <a:r>
              <a:rPr lang="en-US" sz="2000" dirty="0" smtClean="0"/>
              <a:t>KPK 			 7</a:t>
            </a:r>
          </a:p>
          <a:p>
            <a:pPr marL="457200" indent="-457200">
              <a:buFont typeface="+mj-lt"/>
              <a:buAutoNum type="arabicParenR"/>
            </a:pPr>
            <a:r>
              <a:rPr lang="en-US" sz="2000" dirty="0" smtClean="0"/>
              <a:t>KPK/FATA			 </a:t>
            </a:r>
            <a:r>
              <a:rPr lang="en-US" sz="2000" dirty="0"/>
              <a:t>5 </a:t>
            </a:r>
          </a:p>
          <a:p>
            <a:pPr marL="457200" indent="-457200">
              <a:buFont typeface="+mj-lt"/>
              <a:buAutoNum type="arabicParenR"/>
            </a:pPr>
            <a:r>
              <a:rPr lang="en-US" sz="2000" dirty="0" smtClean="0"/>
              <a:t>PUNJAB		 	 9</a:t>
            </a:r>
          </a:p>
          <a:p>
            <a:pPr marL="457200" indent="-457200">
              <a:buFont typeface="+mj-lt"/>
              <a:buAutoNum type="arabicParenR"/>
            </a:pPr>
            <a:r>
              <a:rPr lang="en-US" sz="2000" dirty="0" smtClean="0"/>
              <a:t>SINDH 			 7</a:t>
            </a:r>
            <a:endParaRPr lang="en-US" sz="2000" dirty="0"/>
          </a:p>
        </p:txBody>
      </p:sp>
    </p:spTree>
    <p:extLst>
      <p:ext uri="{BB962C8B-B14F-4D97-AF65-F5344CB8AC3E}">
        <p14:creationId xmlns:p14="http://schemas.microsoft.com/office/powerpoint/2010/main" val="2651649627"/>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447800" y="990600"/>
            <a:ext cx="6196013" cy="4953000"/>
          </a:xfrm>
        </p:spPr>
      </p:pic>
    </p:spTree>
    <p:extLst>
      <p:ext uri="{BB962C8B-B14F-4D97-AF65-F5344CB8AC3E}">
        <p14:creationId xmlns:p14="http://schemas.microsoft.com/office/powerpoint/2010/main" val="2907153427"/>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571500" indent="-571500">
              <a:buFont typeface="Wingdings" panose="05000000000000000000" pitchFamily="2" charset="2"/>
              <a:buChar char="ü"/>
            </a:pPr>
            <a:r>
              <a:rPr lang="en-US" b="1" i="1" dirty="0"/>
              <a:t>Number of D</a:t>
            </a:r>
            <a:r>
              <a:rPr lang="en-US" b="1" i="1" dirty="0" smtClean="0"/>
              <a:t>istricts </a:t>
            </a:r>
            <a:r>
              <a:rPr lang="en-US" b="1" i="1" dirty="0"/>
              <a:t>in each </a:t>
            </a:r>
            <a:r>
              <a:rPr lang="en-US" b="1" i="1" dirty="0" smtClean="0"/>
              <a:t>Province</a:t>
            </a:r>
            <a:endParaRPr lang="en-US" b="1" dirty="0"/>
          </a:p>
        </p:txBody>
      </p:sp>
      <p:sp>
        <p:nvSpPr>
          <p:cNvPr id="3" name="Content Placeholder 2"/>
          <p:cNvSpPr>
            <a:spLocks noGrp="1"/>
          </p:cNvSpPr>
          <p:nvPr>
            <p:ph idx="1"/>
          </p:nvPr>
        </p:nvSpPr>
        <p:spPr/>
        <p:txBody>
          <a:bodyPr/>
          <a:lstStyle/>
          <a:p>
            <a:pPr marL="0" indent="0">
              <a:buNone/>
            </a:pPr>
            <a:r>
              <a:rPr lang="en-US" b="1" dirty="0" smtClean="0"/>
              <a:t>PROVINCE			DISTRICTS</a:t>
            </a:r>
          </a:p>
          <a:p>
            <a:pPr marL="457200" indent="-457200">
              <a:buFont typeface="+mj-lt"/>
              <a:buAutoNum type="arabicParenR"/>
            </a:pPr>
            <a:r>
              <a:rPr lang="en-US" dirty="0" smtClean="0"/>
              <a:t>BALOCHISTAN			31 </a:t>
            </a:r>
          </a:p>
          <a:p>
            <a:pPr marL="457200" indent="-457200">
              <a:buFont typeface="+mj-lt"/>
              <a:buAutoNum type="arabicParenR"/>
            </a:pPr>
            <a:r>
              <a:rPr lang="en-US" dirty="0" smtClean="0"/>
              <a:t>KPK 				23 </a:t>
            </a:r>
          </a:p>
          <a:p>
            <a:pPr marL="457200" indent="-457200">
              <a:buFont typeface="+mj-lt"/>
              <a:buAutoNum type="arabicParenR"/>
            </a:pPr>
            <a:r>
              <a:rPr lang="en-US" dirty="0" smtClean="0"/>
              <a:t>KPK/FATA 			12</a:t>
            </a:r>
          </a:p>
          <a:p>
            <a:pPr marL="457200" indent="-457200">
              <a:buFont typeface="+mj-lt"/>
              <a:buAutoNum type="arabicParenR"/>
            </a:pPr>
            <a:r>
              <a:rPr lang="en-US" dirty="0" smtClean="0"/>
              <a:t>PUNJAB 				36 </a:t>
            </a:r>
          </a:p>
          <a:p>
            <a:pPr marL="457200" indent="-457200">
              <a:buFont typeface="+mj-lt"/>
              <a:buAutoNum type="arabicParenR"/>
            </a:pPr>
            <a:r>
              <a:rPr lang="en-US" dirty="0" smtClean="0"/>
              <a:t>SINDH				29</a:t>
            </a:r>
            <a:endParaRPr lang="en-US" dirty="0"/>
          </a:p>
        </p:txBody>
      </p:sp>
    </p:spTree>
    <p:extLst>
      <p:ext uri="{BB962C8B-B14F-4D97-AF65-F5344CB8AC3E}">
        <p14:creationId xmlns:p14="http://schemas.microsoft.com/office/powerpoint/2010/main" val="1173920671"/>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60113" y="990600"/>
            <a:ext cx="7223774" cy="4876800"/>
          </a:xfrm>
          <a:prstGeom prst="rect">
            <a:avLst/>
          </a:prstGeom>
        </p:spPr>
      </p:pic>
    </p:spTree>
    <p:extLst>
      <p:ext uri="{BB962C8B-B14F-4D97-AF65-F5344CB8AC3E}">
        <p14:creationId xmlns:p14="http://schemas.microsoft.com/office/powerpoint/2010/main" val="3243474290"/>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571500" indent="-571500">
              <a:buFont typeface="Wingdings" panose="05000000000000000000" pitchFamily="2" charset="2"/>
              <a:buChar char="ü"/>
            </a:pPr>
            <a:r>
              <a:rPr lang="en-US" b="1" i="1" dirty="0"/>
              <a:t>Number of </a:t>
            </a:r>
            <a:r>
              <a:rPr lang="en-US" b="1" i="1" dirty="0" smtClean="0"/>
              <a:t>Sub-divisions </a:t>
            </a:r>
            <a:r>
              <a:rPr lang="en-US" b="1" i="1" dirty="0"/>
              <a:t>in each </a:t>
            </a:r>
            <a:r>
              <a:rPr lang="en-US" b="1" i="1" dirty="0" smtClean="0"/>
              <a:t>Province</a:t>
            </a:r>
            <a:endParaRPr lang="en-US" b="1" dirty="0"/>
          </a:p>
        </p:txBody>
      </p:sp>
      <p:sp>
        <p:nvSpPr>
          <p:cNvPr id="3" name="Content Placeholder 2"/>
          <p:cNvSpPr>
            <a:spLocks noGrp="1"/>
          </p:cNvSpPr>
          <p:nvPr>
            <p:ph idx="1"/>
          </p:nvPr>
        </p:nvSpPr>
        <p:spPr/>
        <p:txBody>
          <a:bodyPr/>
          <a:lstStyle/>
          <a:p>
            <a:pPr marL="0" indent="0">
              <a:buNone/>
            </a:pPr>
            <a:r>
              <a:rPr lang="en-US" dirty="0" smtClean="0"/>
              <a:t>PROVINCE			SUB-DIVISIONS</a:t>
            </a:r>
          </a:p>
          <a:p>
            <a:pPr marL="457200" indent="-457200">
              <a:buFont typeface="+mj-lt"/>
              <a:buAutoNum type="arabicParenR"/>
            </a:pPr>
            <a:r>
              <a:rPr lang="en-US" dirty="0" smtClean="0"/>
              <a:t>BALOCHISTAN 		131 </a:t>
            </a:r>
          </a:p>
          <a:p>
            <a:pPr marL="457200" indent="-457200">
              <a:buFont typeface="+mj-lt"/>
              <a:buAutoNum type="arabicParenR"/>
            </a:pPr>
            <a:r>
              <a:rPr lang="en-US" dirty="0" smtClean="0"/>
              <a:t>KPK 			71 </a:t>
            </a:r>
          </a:p>
          <a:p>
            <a:pPr marL="457200" indent="-457200">
              <a:buFont typeface="+mj-lt"/>
              <a:buAutoNum type="arabicParenR"/>
            </a:pPr>
            <a:r>
              <a:rPr lang="en-US" dirty="0" smtClean="0"/>
              <a:t>KPK/FATA			 46</a:t>
            </a:r>
          </a:p>
          <a:p>
            <a:pPr marL="457200" indent="-457200">
              <a:buFont typeface="+mj-lt"/>
              <a:buAutoNum type="arabicParenR"/>
            </a:pPr>
            <a:r>
              <a:rPr lang="en-US" dirty="0" smtClean="0"/>
              <a:t>PUNJAB 			143 </a:t>
            </a:r>
          </a:p>
          <a:p>
            <a:pPr marL="457200" indent="-457200">
              <a:buFont typeface="+mj-lt"/>
              <a:buAutoNum type="arabicParenR"/>
            </a:pPr>
            <a:r>
              <a:rPr lang="en-US" dirty="0" smtClean="0"/>
              <a:t>SINDH 			137</a:t>
            </a:r>
            <a:endParaRPr lang="en-US" dirty="0"/>
          </a:p>
        </p:txBody>
      </p:sp>
    </p:spTree>
    <p:extLst>
      <p:ext uri="{BB962C8B-B14F-4D97-AF65-F5344CB8AC3E}">
        <p14:creationId xmlns:p14="http://schemas.microsoft.com/office/powerpoint/2010/main" val="3216277655"/>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43001" y="762000"/>
            <a:ext cx="6858000" cy="5120686"/>
          </a:xfrm>
        </p:spPr>
      </p:pic>
    </p:spTree>
    <p:extLst>
      <p:ext uri="{BB962C8B-B14F-4D97-AF65-F5344CB8AC3E}">
        <p14:creationId xmlns:p14="http://schemas.microsoft.com/office/powerpoint/2010/main" val="1559494171"/>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817583"/>
            <a:ext cx="7315199" cy="935018"/>
          </a:xfrm>
        </p:spPr>
        <p:txBody>
          <a:bodyPr>
            <a:normAutofit fontScale="90000"/>
          </a:bodyPr>
          <a:lstStyle/>
          <a:p>
            <a:pPr marL="342900" indent="-342900">
              <a:buFont typeface="Wingdings" panose="05000000000000000000" pitchFamily="2" charset="2"/>
              <a:buChar char="ü"/>
            </a:pPr>
            <a:r>
              <a:rPr lang="en-US" sz="2400" b="1" i="1" dirty="0" smtClean="0"/>
              <a:t>The Number of Administrative Units in each Province is as follows:</a:t>
            </a:r>
            <a:r>
              <a:rPr lang="en-US" sz="2400" b="1" dirty="0" smtClean="0"/>
              <a:t/>
            </a:r>
            <a:br>
              <a:rPr lang="en-US" sz="2400" b="1" dirty="0" smtClean="0"/>
            </a:br>
            <a:endParaRPr lang="en-US" sz="2400" b="1" dirty="0"/>
          </a:p>
        </p:txBody>
      </p:sp>
      <p:sp>
        <p:nvSpPr>
          <p:cNvPr id="3" name="Content Placeholder 2"/>
          <p:cNvSpPr>
            <a:spLocks noGrp="1"/>
          </p:cNvSpPr>
          <p:nvPr>
            <p:ph idx="1"/>
          </p:nvPr>
        </p:nvSpPr>
        <p:spPr>
          <a:xfrm>
            <a:off x="1447800" y="1981200"/>
            <a:ext cx="6196405" cy="3603812"/>
          </a:xfrm>
        </p:spPr>
        <p:txBody>
          <a:bodyPr>
            <a:normAutofit/>
          </a:bodyPr>
          <a:lstStyle/>
          <a:p>
            <a:pPr marL="457200" indent="-457200" fontAlgn="base">
              <a:buFont typeface="+mj-lt"/>
              <a:buAutoNum type="arabicParenR"/>
            </a:pPr>
            <a:endParaRPr lang="en-US" sz="1800" dirty="0" smtClean="0"/>
          </a:p>
          <a:p>
            <a:pPr marL="457200" indent="-457200" fontAlgn="base">
              <a:buFont typeface="+mj-lt"/>
              <a:buAutoNum type="arabicParenR"/>
            </a:pPr>
            <a:r>
              <a:rPr lang="en-US" sz="1800" dirty="0" smtClean="0"/>
              <a:t>PUNJAB</a:t>
            </a:r>
            <a:r>
              <a:rPr lang="en-US" sz="1800" dirty="0"/>
              <a:t>: 9 </a:t>
            </a:r>
            <a:r>
              <a:rPr lang="en-US" sz="1800" dirty="0" smtClean="0"/>
              <a:t>Divisions </a:t>
            </a:r>
            <a:r>
              <a:rPr lang="en-US" sz="1800" dirty="0"/>
              <a:t>36 Districts, 143 Sub-Divisions</a:t>
            </a:r>
          </a:p>
          <a:p>
            <a:pPr marL="457200" indent="-457200" fontAlgn="base">
              <a:buFont typeface="+mj-lt"/>
              <a:buAutoNum type="arabicParenR"/>
            </a:pPr>
            <a:r>
              <a:rPr lang="en-US" sz="1800" dirty="0"/>
              <a:t>SINDH: 7 Divisions, 29 Districts, 137 Sub-Divisions</a:t>
            </a:r>
          </a:p>
          <a:p>
            <a:pPr marL="457200" indent="-457200" fontAlgn="base">
              <a:buFont typeface="+mj-lt"/>
              <a:buAutoNum type="arabicParenR"/>
            </a:pPr>
            <a:r>
              <a:rPr lang="en-US" sz="1800" dirty="0"/>
              <a:t>KPK: 7 Divisions, 23 Districts, 71 Sub-Divisions</a:t>
            </a:r>
          </a:p>
          <a:p>
            <a:pPr marL="457200" indent="-457200" fontAlgn="base">
              <a:buFont typeface="+mj-lt"/>
              <a:buAutoNum type="arabicParenR"/>
            </a:pPr>
            <a:r>
              <a:rPr lang="en-US" sz="1800" dirty="0"/>
              <a:t>BALOCHISTAN: 5 Divisions, 31 Districts, 131 Sub-Divisions</a:t>
            </a:r>
          </a:p>
          <a:p>
            <a:pPr marL="457200" indent="-457200" fontAlgn="base">
              <a:buFont typeface="+mj-lt"/>
              <a:buAutoNum type="arabicParenR"/>
            </a:pPr>
            <a:r>
              <a:rPr lang="en-US" sz="1800" dirty="0"/>
              <a:t>KPK/FATA: 5 Divisions, 12 District, 46 Sub-Divisions</a:t>
            </a:r>
          </a:p>
          <a:p>
            <a:pPr marL="457200" indent="-457200">
              <a:buFont typeface="+mj-lt"/>
              <a:buAutoNum type="arabicParenR"/>
            </a:pPr>
            <a:endParaRPr lang="en-US" sz="1800" dirty="0"/>
          </a:p>
        </p:txBody>
      </p:sp>
    </p:spTree>
    <p:extLst>
      <p:ext uri="{BB962C8B-B14F-4D97-AF65-F5344CB8AC3E}">
        <p14:creationId xmlns:p14="http://schemas.microsoft.com/office/powerpoint/2010/main" val="1729832873"/>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066800" y="990600"/>
            <a:ext cx="7086600" cy="4876799"/>
          </a:xfrm>
        </p:spPr>
      </p:pic>
    </p:spTree>
    <p:extLst>
      <p:ext uri="{BB962C8B-B14F-4D97-AF65-F5344CB8AC3E}">
        <p14:creationId xmlns:p14="http://schemas.microsoft.com/office/powerpoint/2010/main" val="2223180523"/>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17582"/>
            <a:ext cx="7391399" cy="1202485"/>
          </a:xfrm>
        </p:spPr>
        <p:txBody>
          <a:bodyPr>
            <a:normAutofit/>
          </a:bodyPr>
          <a:lstStyle/>
          <a:p>
            <a:pPr marL="457200" indent="-457200">
              <a:buFont typeface="Wingdings" panose="05000000000000000000" pitchFamily="2" charset="2"/>
              <a:buChar char="ü"/>
            </a:pPr>
            <a:r>
              <a:rPr lang="en-US" sz="2400" dirty="0">
                <a:latin typeface="Arial Black" panose="020B0A04020102020204" pitchFamily="34" charset="0"/>
              </a:rPr>
              <a:t>P</a:t>
            </a:r>
            <a:r>
              <a:rPr lang="en-US" sz="2400" dirty="0" smtClean="0">
                <a:latin typeface="Arial Black" panose="020B0A04020102020204" pitchFamily="34" charset="0"/>
              </a:rPr>
              <a:t>rovince covers area(sq.km) </a:t>
            </a:r>
            <a:r>
              <a:rPr lang="en-US" sz="2400" dirty="0">
                <a:latin typeface="Arial Black" panose="020B0A04020102020204" pitchFamily="34" charset="0"/>
              </a:rPr>
              <a:t>in </a:t>
            </a:r>
            <a:r>
              <a:rPr lang="en-US" sz="2400" dirty="0" smtClean="0">
                <a:latin typeface="Arial Black" panose="020B0A04020102020204" pitchFamily="34" charset="0"/>
              </a:rPr>
              <a:t>Pakistan</a:t>
            </a:r>
            <a:br>
              <a:rPr lang="en-US" sz="2400" dirty="0" smtClean="0">
                <a:latin typeface="Arial Black" panose="020B0A04020102020204" pitchFamily="34" charset="0"/>
              </a:rPr>
            </a:br>
            <a:r>
              <a:rPr lang="en-US" sz="2400" dirty="0" smtClean="0">
                <a:latin typeface="Arial Black" panose="020B0A04020102020204" pitchFamily="34" charset="0"/>
              </a:rPr>
              <a:t/>
            </a:r>
            <a:br>
              <a:rPr lang="en-US" sz="2400" dirty="0" smtClean="0">
                <a:latin typeface="Arial Black" panose="020B0A04020102020204" pitchFamily="34" charset="0"/>
              </a:rPr>
            </a:br>
            <a:r>
              <a:rPr lang="en-US" sz="2400" dirty="0" smtClean="0">
                <a:latin typeface="Arial Black" panose="020B0A04020102020204" pitchFamily="34" charset="0"/>
              </a:rPr>
              <a:t>TOTAL AREA </a:t>
            </a:r>
            <a:r>
              <a:rPr lang="en-US" sz="2400" dirty="0">
                <a:latin typeface="Arial Black" panose="020B0A04020102020204" pitchFamily="34" charset="0"/>
              </a:rPr>
              <a:t>OF PAKISTAN=787779.1</a:t>
            </a:r>
          </a:p>
        </p:txBody>
      </p:sp>
      <p:sp>
        <p:nvSpPr>
          <p:cNvPr id="3" name="Content Placeholder 2"/>
          <p:cNvSpPr>
            <a:spLocks noGrp="1"/>
          </p:cNvSpPr>
          <p:nvPr>
            <p:ph idx="1"/>
          </p:nvPr>
        </p:nvSpPr>
        <p:spPr/>
        <p:txBody>
          <a:bodyPr/>
          <a:lstStyle/>
          <a:p>
            <a:pPr marL="457200" indent="-457200">
              <a:buFont typeface="+mj-lt"/>
              <a:buAutoNum type="arabicParenR"/>
            </a:pPr>
            <a:r>
              <a:rPr lang="sv-SE" dirty="0"/>
              <a:t>BALOCHISTAN 345464.0 </a:t>
            </a:r>
            <a:endParaRPr lang="sv-SE" dirty="0" smtClean="0"/>
          </a:p>
          <a:p>
            <a:pPr marL="457200" indent="-457200">
              <a:buFont typeface="+mj-lt"/>
              <a:buAutoNum type="arabicParenR"/>
            </a:pPr>
            <a:r>
              <a:rPr lang="sv-SE" dirty="0" smtClean="0"/>
              <a:t>PUNJAB </a:t>
            </a:r>
            <a:r>
              <a:rPr lang="sv-SE" dirty="0"/>
              <a:t>202693.0 </a:t>
            </a:r>
            <a:endParaRPr lang="sv-SE" dirty="0" smtClean="0"/>
          </a:p>
          <a:p>
            <a:pPr marL="457200" indent="-457200">
              <a:buFont typeface="+mj-lt"/>
              <a:buAutoNum type="arabicParenR"/>
            </a:pPr>
            <a:r>
              <a:rPr lang="sv-SE" dirty="0" smtClean="0"/>
              <a:t>SINDH 140136.0</a:t>
            </a:r>
          </a:p>
          <a:p>
            <a:pPr marL="457200" indent="-457200">
              <a:buFont typeface="+mj-lt"/>
              <a:buAutoNum type="arabicParenR"/>
            </a:pPr>
            <a:r>
              <a:rPr lang="sv-SE" dirty="0" smtClean="0"/>
              <a:t> </a:t>
            </a:r>
            <a:r>
              <a:rPr lang="sv-SE" dirty="0"/>
              <a:t>KPK 74957.1 </a:t>
            </a:r>
            <a:endParaRPr lang="sv-SE" dirty="0" smtClean="0"/>
          </a:p>
          <a:p>
            <a:pPr marL="457200" indent="-457200">
              <a:buFont typeface="+mj-lt"/>
              <a:buAutoNum type="arabicParenR"/>
            </a:pPr>
            <a:r>
              <a:rPr lang="sv-SE" dirty="0" smtClean="0"/>
              <a:t>KPK/FATA </a:t>
            </a:r>
            <a:r>
              <a:rPr lang="sv-SE" dirty="0"/>
              <a:t>24529.0</a:t>
            </a:r>
            <a:endParaRPr lang="en-US" dirty="0"/>
          </a:p>
        </p:txBody>
      </p:sp>
    </p:spTree>
    <p:extLst>
      <p:ext uri="{BB962C8B-B14F-4D97-AF65-F5344CB8AC3E}">
        <p14:creationId xmlns:p14="http://schemas.microsoft.com/office/powerpoint/2010/main" val="2228889353"/>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066800" y="838200"/>
            <a:ext cx="7010400" cy="5105399"/>
          </a:xfrm>
        </p:spPr>
      </p:pic>
    </p:spTree>
    <p:extLst>
      <p:ext uri="{BB962C8B-B14F-4D97-AF65-F5344CB8AC3E}">
        <p14:creationId xmlns:p14="http://schemas.microsoft.com/office/powerpoint/2010/main" val="1579693777"/>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marL="571500" indent="-571500">
              <a:buFont typeface="Wingdings" panose="05000000000000000000" pitchFamily="2" charset="2"/>
              <a:buChar char="ü"/>
            </a:pPr>
            <a:r>
              <a:rPr lang="en-US" dirty="0" smtClean="0"/>
              <a:t>SMALLEST VS LARGEST AREA</a:t>
            </a:r>
            <a:endParaRPr lang="en-US" dirty="0"/>
          </a:p>
        </p:txBody>
      </p:sp>
      <p:sp>
        <p:nvSpPr>
          <p:cNvPr id="3" name="Content Placeholder 2"/>
          <p:cNvSpPr>
            <a:spLocks noGrp="1"/>
          </p:cNvSpPr>
          <p:nvPr>
            <p:ph idx="1"/>
          </p:nvPr>
        </p:nvSpPr>
        <p:spPr>
          <a:xfrm>
            <a:off x="1447800" y="2286000"/>
            <a:ext cx="6196405" cy="3603812"/>
          </a:xfrm>
        </p:spPr>
        <p:txBody>
          <a:bodyPr>
            <a:normAutofit/>
          </a:bodyPr>
          <a:lstStyle/>
          <a:p>
            <a:pPr>
              <a:buFont typeface="Arial" panose="020B0604020202020204" pitchFamily="34" charset="0"/>
              <a:buChar char="•"/>
            </a:pPr>
            <a:r>
              <a:rPr lang="en-US" sz="2000" b="1" dirty="0"/>
              <a:t>Province covers the largest area in Pakistan</a:t>
            </a:r>
            <a:endParaRPr lang="en-US" sz="2000" b="1" i="1" dirty="0" smtClean="0"/>
          </a:p>
          <a:p>
            <a:pPr marL="0" indent="0">
              <a:buNone/>
            </a:pPr>
            <a:r>
              <a:rPr lang="en-US" sz="2000" i="1" dirty="0" smtClean="0"/>
              <a:t>Balochistan </a:t>
            </a:r>
            <a:r>
              <a:rPr lang="en-US" sz="2000" i="1" dirty="0"/>
              <a:t>covers the largest area in Pakistan, with a total area of 345,464 square </a:t>
            </a:r>
            <a:r>
              <a:rPr lang="en-US" sz="2000" i="1" dirty="0" smtClean="0"/>
              <a:t>kilometers</a:t>
            </a:r>
          </a:p>
          <a:p>
            <a:pPr marL="0" indent="0">
              <a:buNone/>
            </a:pPr>
            <a:endParaRPr lang="en-US" sz="2000" i="1" dirty="0" smtClean="0"/>
          </a:p>
          <a:p>
            <a:pPr>
              <a:buFont typeface="Arial" panose="020B0604020202020204" pitchFamily="34" charset="0"/>
              <a:buChar char="•"/>
            </a:pPr>
            <a:r>
              <a:rPr lang="en-US" sz="2000" b="1" dirty="0"/>
              <a:t> </a:t>
            </a:r>
            <a:r>
              <a:rPr lang="en-US" sz="2000" b="1" dirty="0" smtClean="0"/>
              <a:t>Province </a:t>
            </a:r>
            <a:r>
              <a:rPr lang="en-US" sz="2000" b="1" dirty="0"/>
              <a:t>has the smallest </a:t>
            </a:r>
            <a:r>
              <a:rPr lang="en-US" sz="2000" b="1" dirty="0" smtClean="0"/>
              <a:t>area</a:t>
            </a:r>
          </a:p>
          <a:p>
            <a:pPr marL="0" indent="0">
              <a:buNone/>
            </a:pPr>
            <a:r>
              <a:rPr lang="en-US" sz="2000" dirty="0"/>
              <a:t> KPK/FATA has the smallest area in Pakistan, with a total area of </a:t>
            </a:r>
            <a:r>
              <a:rPr lang="en-US" sz="2000" b="1" dirty="0"/>
              <a:t>24,529 square kilometers</a:t>
            </a:r>
          </a:p>
        </p:txBody>
      </p:sp>
    </p:spTree>
    <p:extLst>
      <p:ext uri="{BB962C8B-B14F-4D97-AF65-F5344CB8AC3E}">
        <p14:creationId xmlns:p14="http://schemas.microsoft.com/office/powerpoint/2010/main" val="757418331"/>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817582"/>
            <a:ext cx="7315199" cy="1202485"/>
          </a:xfrm>
        </p:spPr>
        <p:txBody>
          <a:bodyPr>
            <a:normAutofit/>
          </a:bodyPr>
          <a:lstStyle/>
          <a:p>
            <a:pPr marL="457200" indent="-457200">
              <a:buFont typeface="Wingdings" panose="05000000000000000000" pitchFamily="2" charset="2"/>
              <a:buChar char="ü"/>
            </a:pPr>
            <a:r>
              <a:rPr lang="en-US" sz="2000" b="1" dirty="0">
                <a:latin typeface="Arial Black" panose="020B0A04020102020204" pitchFamily="34" charset="0"/>
              </a:rPr>
              <a:t> T</a:t>
            </a:r>
            <a:r>
              <a:rPr lang="en-US" sz="2000" b="1" dirty="0" smtClean="0">
                <a:latin typeface="Arial Black" panose="020B0A04020102020204" pitchFamily="34" charset="0"/>
              </a:rPr>
              <a:t>otal </a:t>
            </a:r>
            <a:r>
              <a:rPr lang="en-US" sz="2000" b="1" dirty="0">
                <a:latin typeface="Arial Black" panose="020B0A04020102020204" pitchFamily="34" charset="0"/>
              </a:rPr>
              <a:t>P</a:t>
            </a:r>
            <a:r>
              <a:rPr lang="en-US" sz="2000" b="1" dirty="0" smtClean="0">
                <a:latin typeface="Arial Black" panose="020B0A04020102020204" pitchFamily="34" charset="0"/>
              </a:rPr>
              <a:t>opulation </a:t>
            </a:r>
            <a:r>
              <a:rPr lang="en-US" sz="2000" b="1" dirty="0">
                <a:latin typeface="Arial Black" panose="020B0A04020102020204" pitchFamily="34" charset="0"/>
              </a:rPr>
              <a:t>of each </a:t>
            </a:r>
            <a:r>
              <a:rPr lang="en-US" sz="2000" b="1" dirty="0" smtClean="0">
                <a:latin typeface="Arial Black" panose="020B0A04020102020204" pitchFamily="34" charset="0"/>
              </a:rPr>
              <a:t>Province</a:t>
            </a:r>
            <a:br>
              <a:rPr lang="en-US" sz="2000" b="1" dirty="0" smtClean="0">
                <a:latin typeface="Arial Black" panose="020B0A04020102020204" pitchFamily="34" charset="0"/>
              </a:rPr>
            </a:br>
            <a:r>
              <a:rPr lang="en-US" sz="2000" b="1" dirty="0">
                <a:latin typeface="Arial Black" panose="020B0A04020102020204" pitchFamily="34" charset="0"/>
              </a:rPr>
              <a:t>TOTAL POPULATION OF PAK= 204410733</a:t>
            </a:r>
          </a:p>
        </p:txBody>
      </p:sp>
      <p:sp>
        <p:nvSpPr>
          <p:cNvPr id="3" name="Content Placeholder 2"/>
          <p:cNvSpPr>
            <a:spLocks noGrp="1"/>
          </p:cNvSpPr>
          <p:nvPr>
            <p:ph idx="1"/>
          </p:nvPr>
        </p:nvSpPr>
        <p:spPr/>
        <p:txBody>
          <a:bodyPr/>
          <a:lstStyle/>
          <a:p>
            <a:pPr marL="0" indent="0">
              <a:buNone/>
            </a:pPr>
            <a:r>
              <a:rPr lang="en-US" b="1" dirty="0"/>
              <a:t>PROVINCE </a:t>
            </a:r>
            <a:r>
              <a:rPr lang="en-US" b="1" dirty="0" smtClean="0"/>
              <a:t>			POPULATION</a:t>
            </a:r>
          </a:p>
          <a:p>
            <a:pPr marL="457200" indent="-457200">
              <a:buFont typeface="+mj-lt"/>
              <a:buAutoNum type="arabicParenR"/>
            </a:pPr>
            <a:r>
              <a:rPr lang="en-US" dirty="0" smtClean="0"/>
              <a:t>PUNJAB			109054593</a:t>
            </a:r>
          </a:p>
          <a:p>
            <a:pPr marL="457200" indent="-457200">
              <a:buFont typeface="+mj-lt"/>
              <a:buAutoNum type="arabicParenR"/>
            </a:pPr>
            <a:r>
              <a:rPr lang="en-US" dirty="0" smtClean="0"/>
              <a:t>SINDH			47844275 </a:t>
            </a:r>
          </a:p>
          <a:p>
            <a:pPr marL="457200" indent="-457200">
              <a:buFont typeface="+mj-lt"/>
              <a:buAutoNum type="arabicParenR"/>
            </a:pPr>
            <a:r>
              <a:rPr lang="en-US" dirty="0" smtClean="0"/>
              <a:t>KPK			30497911 </a:t>
            </a:r>
            <a:endParaRPr lang="en-US" dirty="0"/>
          </a:p>
          <a:p>
            <a:pPr marL="457200" indent="-457200">
              <a:buFont typeface="+mj-lt"/>
              <a:buAutoNum type="arabicParenR"/>
            </a:pPr>
            <a:r>
              <a:rPr lang="en-US" dirty="0" smtClean="0"/>
              <a:t>BALOCHISTAN		12286335 </a:t>
            </a:r>
          </a:p>
          <a:p>
            <a:pPr marL="457200" indent="-457200">
              <a:buFont typeface="+mj-lt"/>
              <a:buAutoNum type="arabicParenR"/>
            </a:pPr>
            <a:r>
              <a:rPr lang="en-US" dirty="0" smtClean="0"/>
              <a:t>KPK/FATA		 4727619</a:t>
            </a:r>
            <a:endParaRPr lang="en-US" dirty="0"/>
          </a:p>
        </p:txBody>
      </p:sp>
    </p:spTree>
    <p:extLst>
      <p:ext uri="{BB962C8B-B14F-4D97-AF65-F5344CB8AC3E}">
        <p14:creationId xmlns:p14="http://schemas.microsoft.com/office/powerpoint/2010/main" val="4184669140"/>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013073" y="1143000"/>
            <a:ext cx="7064127" cy="4648200"/>
          </a:xfrm>
        </p:spPr>
      </p:pic>
    </p:spTree>
    <p:extLst>
      <p:ext uri="{BB962C8B-B14F-4D97-AF65-F5344CB8AC3E}">
        <p14:creationId xmlns:p14="http://schemas.microsoft.com/office/powerpoint/2010/main" val="529481548"/>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marL="342900" indent="-342900">
              <a:buFont typeface="Wingdings" panose="05000000000000000000" pitchFamily="2" charset="2"/>
              <a:buChar char="ü"/>
            </a:pPr>
            <a:r>
              <a:rPr lang="en-US" sz="2400" dirty="0" smtClean="0"/>
              <a:t>The Total Population of Pakistan (2017) (including both rural and urban areas)</a:t>
            </a:r>
            <a:endParaRPr lang="en-US" sz="2400" dirty="0"/>
          </a:p>
        </p:txBody>
      </p:sp>
      <p:sp>
        <p:nvSpPr>
          <p:cNvPr id="3" name="Content Placeholder 2"/>
          <p:cNvSpPr>
            <a:spLocks noGrp="1"/>
          </p:cNvSpPr>
          <p:nvPr>
            <p:ph idx="1"/>
          </p:nvPr>
        </p:nvSpPr>
        <p:spPr>
          <a:xfrm>
            <a:off x="1463040" y="1981200"/>
            <a:ext cx="6196405" cy="4114800"/>
          </a:xfrm>
        </p:spPr>
        <p:txBody>
          <a:bodyPr>
            <a:normAutofit fontScale="32500" lnSpcReduction="20000"/>
          </a:bodyPr>
          <a:lstStyle/>
          <a:p>
            <a:pPr marL="0" indent="0">
              <a:buNone/>
            </a:pPr>
            <a:r>
              <a:rPr lang="en-US" b="1" dirty="0" smtClean="0"/>
              <a:t>Total Population of Pakistan (2017): 204410733</a:t>
            </a:r>
          </a:p>
          <a:p>
            <a:pPr marL="0" indent="0">
              <a:buNone/>
            </a:pPr>
            <a:r>
              <a:rPr lang="en-US" dirty="0" smtClean="0"/>
              <a:t>	</a:t>
            </a:r>
            <a:r>
              <a:rPr lang="en-US" sz="2800" b="1" dirty="0" smtClean="0"/>
              <a:t>DIVISION		POPULATION</a:t>
            </a:r>
            <a:endParaRPr lang="en-US" b="1" dirty="0" smtClean="0"/>
          </a:p>
          <a:p>
            <a:pPr marL="457200" indent="-457200">
              <a:buFont typeface="+mj-lt"/>
              <a:buAutoNum type="arabicParenR"/>
            </a:pPr>
            <a:r>
              <a:rPr lang="en-US" dirty="0" smtClean="0"/>
              <a:t> LAHORE DIVISION 		19389856 </a:t>
            </a:r>
          </a:p>
          <a:p>
            <a:pPr marL="457200" indent="-457200">
              <a:buFont typeface="+mj-lt"/>
              <a:buAutoNum type="arabicParenR"/>
            </a:pPr>
            <a:r>
              <a:rPr lang="en-US" dirty="0" smtClean="0"/>
              <a:t>GUJRANWALA DIVISION 		16120861 </a:t>
            </a:r>
          </a:p>
          <a:p>
            <a:pPr marL="457200" indent="-457200">
              <a:buFont typeface="+mj-lt"/>
              <a:buAutoNum type="arabicParenR"/>
            </a:pPr>
            <a:r>
              <a:rPr lang="en-US" dirty="0" smtClean="0"/>
              <a:t>Karachi Division 		16024894 </a:t>
            </a:r>
          </a:p>
          <a:p>
            <a:pPr marL="457200" indent="-457200">
              <a:buFont typeface="+mj-lt"/>
              <a:buAutoNum type="arabicParenR"/>
            </a:pPr>
            <a:r>
              <a:rPr lang="en-US" dirty="0" smtClean="0"/>
              <a:t>FAISALABAD DIVISION 		14185231 </a:t>
            </a:r>
          </a:p>
          <a:p>
            <a:pPr marL="457200" indent="-457200">
              <a:buFont typeface="+mj-lt"/>
              <a:buAutoNum type="arabicParenR"/>
            </a:pPr>
            <a:r>
              <a:rPr lang="en-US" dirty="0" smtClean="0"/>
              <a:t>MULTAN DIVISION 		12268173 </a:t>
            </a:r>
          </a:p>
          <a:p>
            <a:pPr marL="457200" indent="-457200">
              <a:buFont typeface="+mj-lt"/>
              <a:buAutoNum type="arabicParenR"/>
            </a:pPr>
            <a:r>
              <a:rPr lang="en-US" dirty="0" smtClean="0"/>
              <a:t>BAHAWALPUR DIVISION 		11452594</a:t>
            </a:r>
          </a:p>
          <a:p>
            <a:pPr marL="457200" indent="-457200">
              <a:buFont typeface="+mj-lt"/>
              <a:buAutoNum type="arabicParenR"/>
            </a:pPr>
            <a:r>
              <a:rPr lang="en-US" dirty="0" smtClean="0"/>
              <a:t> D.G.KHAN DIVISION 		10426847 </a:t>
            </a:r>
          </a:p>
          <a:p>
            <a:pPr marL="457200" indent="-457200">
              <a:buFont typeface="+mj-lt"/>
              <a:buAutoNum type="arabicParenR"/>
            </a:pPr>
            <a:r>
              <a:rPr lang="en-US" dirty="0" smtClean="0"/>
              <a:t>RAWALPINDI DIVISION 		10006624 </a:t>
            </a:r>
          </a:p>
          <a:p>
            <a:pPr marL="457200" indent="-457200">
              <a:buFont typeface="+mj-lt"/>
              <a:buAutoNum type="arabicParenR"/>
            </a:pPr>
            <a:r>
              <a:rPr lang="en-US" dirty="0" smtClean="0"/>
              <a:t>MALAKAND DIVISION 		9321400 </a:t>
            </a:r>
          </a:p>
          <a:p>
            <a:pPr marL="457200" indent="-457200">
              <a:buFont typeface="+mj-lt"/>
              <a:buAutoNum type="arabicParenR"/>
            </a:pPr>
            <a:r>
              <a:rPr lang="en-US" dirty="0" smtClean="0"/>
              <a:t>Hyderabad Division 		8780856 </a:t>
            </a:r>
          </a:p>
          <a:p>
            <a:pPr marL="457200" indent="-457200">
              <a:buFont typeface="+mj-lt"/>
              <a:buAutoNum type="arabicParenR"/>
            </a:pPr>
            <a:r>
              <a:rPr lang="en-US" dirty="0" smtClean="0"/>
              <a:t>PESHAWAR DIVISION 		8193690 </a:t>
            </a:r>
          </a:p>
          <a:p>
            <a:pPr marL="457200" indent="-457200">
              <a:buFont typeface="+mj-lt"/>
              <a:buAutoNum type="arabicParenR"/>
            </a:pPr>
            <a:r>
              <a:rPr lang="en-US" dirty="0" smtClean="0"/>
              <a:t>SARGODHA DIVISION 		7826342 </a:t>
            </a:r>
          </a:p>
          <a:p>
            <a:pPr marL="457200" indent="-457200">
              <a:buFont typeface="+mj-lt"/>
              <a:buAutoNum type="arabicParenR"/>
            </a:pPr>
            <a:r>
              <a:rPr lang="en-US" dirty="0" smtClean="0"/>
              <a:t>SAHIWAL DIVISION 		7378065 </a:t>
            </a:r>
          </a:p>
          <a:p>
            <a:pPr marL="457200" indent="-457200">
              <a:buFont typeface="+mj-lt"/>
              <a:buAutoNum type="arabicParenR"/>
            </a:pPr>
            <a:r>
              <a:rPr lang="en-US" dirty="0" err="1" smtClean="0"/>
              <a:t>Larkana</a:t>
            </a:r>
            <a:r>
              <a:rPr lang="en-US" dirty="0" smtClean="0"/>
              <a:t> Division 		6190926 </a:t>
            </a:r>
          </a:p>
          <a:p>
            <a:pPr marL="457200" indent="-457200">
              <a:buFont typeface="+mj-lt"/>
              <a:buAutoNum type="arabicParenR"/>
            </a:pPr>
            <a:r>
              <a:rPr lang="en-US" dirty="0" smtClean="0"/>
              <a:t>Sukkur Division 		5542270 </a:t>
            </a:r>
          </a:p>
          <a:p>
            <a:pPr marL="457200" indent="-457200">
              <a:buFont typeface="+mj-lt"/>
              <a:buAutoNum type="arabicParenR"/>
            </a:pPr>
            <a:r>
              <a:rPr lang="en-US" dirty="0" smtClean="0"/>
              <a:t>HAZARA DIVISION 		5323155</a:t>
            </a:r>
          </a:p>
          <a:p>
            <a:pPr marL="457200" indent="-457200">
              <a:buFont typeface="+mj-lt"/>
              <a:buAutoNum type="arabicParenR"/>
            </a:pPr>
            <a:r>
              <a:rPr lang="en-US" dirty="0" smtClean="0"/>
              <a:t>Shaheed </a:t>
            </a:r>
            <a:r>
              <a:rPr lang="en-US" dirty="0" err="1" smtClean="0"/>
              <a:t>Benazirabad</a:t>
            </a:r>
            <a:r>
              <a:rPr lang="en-US" dirty="0" smtClean="0"/>
              <a:t> Division 		5275426 </a:t>
            </a:r>
          </a:p>
          <a:p>
            <a:pPr marL="457200" indent="-457200">
              <a:buFont typeface="+mj-lt"/>
              <a:buAutoNum type="arabicParenR"/>
            </a:pPr>
            <a:r>
              <a:rPr lang="en-US" dirty="0" smtClean="0"/>
              <a:t>Quetta Division 		5097730</a:t>
            </a:r>
          </a:p>
          <a:p>
            <a:pPr marL="457200" indent="-457200">
              <a:buFont typeface="+mj-lt"/>
              <a:buAutoNum type="arabicParenR"/>
            </a:pPr>
            <a:r>
              <a:rPr lang="en-US" dirty="0" err="1" smtClean="0"/>
              <a:t>Mirpurkhas</a:t>
            </a:r>
            <a:r>
              <a:rPr lang="en-US" dirty="0" smtClean="0"/>
              <a:t> Division 		4224945 </a:t>
            </a:r>
          </a:p>
          <a:p>
            <a:pPr marL="457200" indent="-457200">
              <a:buFont typeface="+mj-lt"/>
              <a:buAutoNum type="arabicParenR"/>
            </a:pPr>
            <a:r>
              <a:rPr lang="en-US" dirty="0" smtClean="0"/>
              <a:t>MARDAN DIVISION 		3998876 </a:t>
            </a:r>
          </a:p>
          <a:p>
            <a:pPr marL="457200" indent="-457200">
              <a:buFont typeface="+mj-lt"/>
              <a:buAutoNum type="arabicParenR"/>
            </a:pPr>
            <a:r>
              <a:rPr lang="en-US" dirty="0" smtClean="0"/>
              <a:t>KOHAT DIVISION 		2976107 </a:t>
            </a:r>
          </a:p>
          <a:p>
            <a:pPr marL="457200" indent="-457200">
              <a:buFont typeface="+mj-lt"/>
              <a:buAutoNum type="arabicParenR"/>
            </a:pPr>
            <a:r>
              <a:rPr lang="en-US" dirty="0" smtClean="0"/>
              <a:t>DERA ISMAIL KHAN DIVISION 		2759435</a:t>
            </a:r>
          </a:p>
          <a:p>
            <a:pPr marL="457200" indent="-457200">
              <a:buFont typeface="+mj-lt"/>
              <a:buAutoNum type="arabicParenR"/>
            </a:pPr>
            <a:r>
              <a:rPr lang="en-US" dirty="0" smtClean="0"/>
              <a:t> BANNU DIVISION 		2652867 </a:t>
            </a:r>
          </a:p>
          <a:p>
            <a:pPr marL="457200" indent="-457200">
              <a:buFont typeface="+mj-lt"/>
              <a:buAutoNum type="arabicParenR"/>
            </a:pPr>
            <a:r>
              <a:rPr lang="en-US" dirty="0" err="1" smtClean="0"/>
              <a:t>Makran</a:t>
            </a:r>
            <a:r>
              <a:rPr lang="en-US" dirty="0" smtClean="0"/>
              <a:t> Division 		2508969 </a:t>
            </a:r>
          </a:p>
          <a:p>
            <a:pPr marL="457200" indent="-457200">
              <a:buFont typeface="+mj-lt"/>
              <a:buAutoNum type="arabicParenR"/>
            </a:pPr>
            <a:r>
              <a:rPr lang="en-US" dirty="0" smtClean="0"/>
              <a:t>Badin Division 		1804958 </a:t>
            </a:r>
          </a:p>
          <a:p>
            <a:pPr marL="457200" indent="-457200">
              <a:buFont typeface="+mj-lt"/>
              <a:buAutoNum type="arabicParenR"/>
            </a:pPr>
            <a:r>
              <a:rPr lang="en-US" dirty="0" err="1" smtClean="0"/>
              <a:t>Naseerabad</a:t>
            </a:r>
            <a:r>
              <a:rPr lang="en-US" dirty="0" smtClean="0"/>
              <a:t> Division 		1661077 </a:t>
            </a:r>
          </a:p>
          <a:p>
            <a:pPr marL="457200" indent="-457200">
              <a:buFont typeface="+mj-lt"/>
              <a:buAutoNum type="arabicParenR"/>
            </a:pPr>
            <a:r>
              <a:rPr lang="en-US" dirty="0" err="1" smtClean="0"/>
              <a:t>Zhob</a:t>
            </a:r>
            <a:r>
              <a:rPr lang="en-US" dirty="0" smtClean="0"/>
              <a:t> Division 		1541929 </a:t>
            </a:r>
          </a:p>
          <a:p>
            <a:pPr marL="457200" indent="-457200">
              <a:buFont typeface="+mj-lt"/>
              <a:buAutoNum type="arabicParenR"/>
            </a:pPr>
            <a:r>
              <a:rPr lang="en-US" dirty="0" err="1" smtClean="0"/>
              <a:t>Kalat</a:t>
            </a:r>
            <a:r>
              <a:rPr lang="en-US" dirty="0" smtClean="0"/>
              <a:t> Division 		1476630</a:t>
            </a:r>
            <a:endParaRPr lang="en-US" dirty="0"/>
          </a:p>
        </p:txBody>
      </p:sp>
    </p:spTree>
    <p:extLst>
      <p:ext uri="{BB962C8B-B14F-4D97-AF65-F5344CB8AC3E}">
        <p14:creationId xmlns:p14="http://schemas.microsoft.com/office/powerpoint/2010/main" val="562014939"/>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43000" y="914400"/>
            <a:ext cx="6858000" cy="5029199"/>
          </a:xfrm>
        </p:spPr>
      </p:pic>
    </p:spTree>
    <p:extLst>
      <p:ext uri="{BB962C8B-B14F-4D97-AF65-F5344CB8AC3E}">
        <p14:creationId xmlns:p14="http://schemas.microsoft.com/office/powerpoint/2010/main" val="3257012046"/>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43000" y="990600"/>
            <a:ext cx="6781799" cy="4952999"/>
          </a:xfrm>
        </p:spPr>
      </p:pic>
    </p:spTree>
    <p:extLst>
      <p:ext uri="{BB962C8B-B14F-4D97-AF65-F5344CB8AC3E}">
        <p14:creationId xmlns:p14="http://schemas.microsoft.com/office/powerpoint/2010/main" val="686313389"/>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marL="457200" indent="-457200">
              <a:buFont typeface="Wingdings" panose="05000000000000000000" pitchFamily="2" charset="2"/>
              <a:buChar char="ü"/>
            </a:pPr>
            <a:r>
              <a:rPr lang="en-US" sz="3200" b="1" dirty="0" smtClean="0"/>
              <a:t>SMALLEST VS LARGEST POPULATION</a:t>
            </a:r>
            <a:endParaRPr lang="en-US" sz="3200" b="1" dirty="0"/>
          </a:p>
        </p:txBody>
      </p:sp>
      <p:sp>
        <p:nvSpPr>
          <p:cNvPr id="3" name="Content Placeholder 2"/>
          <p:cNvSpPr>
            <a:spLocks noGrp="1"/>
          </p:cNvSpPr>
          <p:nvPr>
            <p:ph idx="1"/>
          </p:nvPr>
        </p:nvSpPr>
        <p:spPr/>
        <p:txBody>
          <a:bodyPr/>
          <a:lstStyle/>
          <a:p>
            <a:pPr>
              <a:buFont typeface="Wingdings" panose="05000000000000000000" pitchFamily="2" charset="2"/>
              <a:buChar char="ü"/>
            </a:pPr>
            <a:r>
              <a:rPr lang="en-US" i="1" dirty="0"/>
              <a:t>Punjab </a:t>
            </a:r>
            <a:r>
              <a:rPr lang="en-US" i="1" dirty="0" err="1"/>
              <a:t>Divison</a:t>
            </a:r>
            <a:r>
              <a:rPr lang="en-US" i="1" dirty="0"/>
              <a:t> has the largest population (</a:t>
            </a:r>
            <a:r>
              <a:rPr lang="en-US" i="1" dirty="0" err="1"/>
              <a:t>i.e</a:t>
            </a:r>
            <a:r>
              <a:rPr lang="en-US" i="1" dirty="0"/>
              <a:t> Lahore Division with 19389856 peoples</a:t>
            </a:r>
            <a:r>
              <a:rPr lang="en-US" i="1" dirty="0" smtClean="0"/>
              <a:t>)</a:t>
            </a:r>
          </a:p>
          <a:p>
            <a:pPr>
              <a:buFont typeface="Wingdings" panose="05000000000000000000" pitchFamily="2" charset="2"/>
              <a:buChar char="ü"/>
            </a:pPr>
            <a:endParaRPr lang="en-US" dirty="0"/>
          </a:p>
        </p:txBody>
      </p:sp>
    </p:spTree>
    <p:extLst>
      <p:ext uri="{BB962C8B-B14F-4D97-AF65-F5344CB8AC3E}">
        <p14:creationId xmlns:p14="http://schemas.microsoft.com/office/powerpoint/2010/main" val="2113383195"/>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marL="457200" indent="-457200">
              <a:buFont typeface="Wingdings" panose="05000000000000000000" pitchFamily="2" charset="2"/>
              <a:buChar char="ü"/>
            </a:pPr>
            <a:r>
              <a:rPr lang="en-US" sz="3200" dirty="0"/>
              <a:t>G</a:t>
            </a:r>
            <a:r>
              <a:rPr lang="en-US" sz="3200" dirty="0" smtClean="0"/>
              <a:t>ender </a:t>
            </a:r>
            <a:r>
              <a:rPr lang="en-US" sz="3200" dirty="0"/>
              <a:t>D</a:t>
            </a:r>
            <a:r>
              <a:rPr lang="en-US" sz="3200" dirty="0" smtClean="0"/>
              <a:t>istribution </a:t>
            </a:r>
            <a:r>
              <a:rPr lang="en-US" sz="3200" dirty="0"/>
              <a:t>(male/female) in </a:t>
            </a:r>
            <a:r>
              <a:rPr lang="en-US" sz="3200" dirty="0" smtClean="0"/>
              <a:t>Each Province</a:t>
            </a:r>
            <a:endParaRPr lang="en-US" sz="3200" dirty="0"/>
          </a:p>
        </p:txBody>
      </p:sp>
      <p:sp>
        <p:nvSpPr>
          <p:cNvPr id="3" name="Content Placeholder 2"/>
          <p:cNvSpPr>
            <a:spLocks noGrp="1"/>
          </p:cNvSpPr>
          <p:nvPr>
            <p:ph idx="1"/>
          </p:nvPr>
        </p:nvSpPr>
        <p:spPr>
          <a:xfrm>
            <a:off x="1066800" y="2119257"/>
            <a:ext cx="6934200" cy="3603812"/>
          </a:xfrm>
        </p:spPr>
        <p:txBody>
          <a:bodyPr>
            <a:normAutofit/>
          </a:bodyPr>
          <a:lstStyle/>
          <a:p>
            <a:r>
              <a:rPr lang="en-US" sz="1200" b="1" dirty="0">
                <a:latin typeface="Arial Narrow" panose="020B0606020202030204" pitchFamily="34" charset="0"/>
              </a:rPr>
              <a:t>PROVINCE  </a:t>
            </a:r>
            <a:r>
              <a:rPr lang="en-US" sz="1200" b="1" dirty="0" smtClean="0">
                <a:latin typeface="Arial Narrow" panose="020B0606020202030204" pitchFamily="34" charset="0"/>
              </a:rPr>
              <a:t>          MALE </a:t>
            </a:r>
            <a:r>
              <a:rPr lang="en-US" sz="1200" b="1" dirty="0">
                <a:latin typeface="Arial Narrow" panose="020B0606020202030204" pitchFamily="34" charset="0"/>
              </a:rPr>
              <a:t>(</a:t>
            </a:r>
            <a:r>
              <a:rPr lang="en-US" sz="1200" b="1" dirty="0" smtClean="0">
                <a:latin typeface="Arial Narrow" panose="020B0606020202030204" pitchFamily="34" charset="0"/>
              </a:rPr>
              <a:t>RURAL)        MALE </a:t>
            </a:r>
            <a:r>
              <a:rPr lang="en-US" sz="1200" b="1" dirty="0">
                <a:latin typeface="Arial Narrow" panose="020B0606020202030204" pitchFamily="34" charset="0"/>
              </a:rPr>
              <a:t>(</a:t>
            </a:r>
            <a:r>
              <a:rPr lang="en-US" sz="1200" b="1" dirty="0" smtClean="0">
                <a:latin typeface="Arial Narrow" panose="020B0606020202030204" pitchFamily="34" charset="0"/>
              </a:rPr>
              <a:t>URBAN)        FEMALE </a:t>
            </a:r>
            <a:r>
              <a:rPr lang="en-US" sz="1200" b="1" dirty="0">
                <a:latin typeface="Arial Narrow" panose="020B0606020202030204" pitchFamily="34" charset="0"/>
              </a:rPr>
              <a:t>(</a:t>
            </a:r>
            <a:r>
              <a:rPr lang="en-US" sz="1200" b="1" dirty="0" smtClean="0">
                <a:latin typeface="Arial Narrow" panose="020B0606020202030204" pitchFamily="34" charset="0"/>
              </a:rPr>
              <a:t>RURAL)       FEMALE(URBAN</a:t>
            </a:r>
            <a:r>
              <a:rPr lang="en-US" sz="1200" b="1" dirty="0">
                <a:latin typeface="Arial Narrow" panose="020B0606020202030204" pitchFamily="34" charset="0"/>
              </a:rPr>
              <a:t>)</a:t>
            </a:r>
          </a:p>
          <a:p>
            <a:pPr marL="0" indent="0">
              <a:buNone/>
            </a:pPr>
            <a:r>
              <a:rPr lang="en-US" sz="1200" dirty="0">
                <a:latin typeface="Arial Narrow" panose="020B0606020202030204" pitchFamily="34" charset="0"/>
              </a:rPr>
              <a:t>				</a:t>
            </a:r>
          </a:p>
          <a:p>
            <a:pPr>
              <a:buFont typeface="+mj-lt"/>
              <a:buAutoNum type="arabicParenR"/>
            </a:pPr>
            <a:r>
              <a:rPr lang="en-US" sz="1200" dirty="0">
                <a:latin typeface="Arial Narrow" panose="020B0606020202030204" pitchFamily="34" charset="0"/>
              </a:rPr>
              <a:t>BALOCHISTAN	4658709	1797980	 </a:t>
            </a:r>
            <a:r>
              <a:rPr lang="en-US" sz="1200" dirty="0" smtClean="0">
                <a:latin typeface="Arial Narrow" panose="020B0606020202030204" pitchFamily="34" charset="0"/>
              </a:rPr>
              <a:t>       4220436</a:t>
            </a:r>
            <a:r>
              <a:rPr lang="en-US" sz="1200" dirty="0">
                <a:latin typeface="Arial Narrow" panose="020B0606020202030204" pitchFamily="34" charset="0"/>
              </a:rPr>
              <a:t>	</a:t>
            </a:r>
            <a:r>
              <a:rPr lang="en-US" sz="1200" dirty="0" smtClean="0">
                <a:latin typeface="Arial Narrow" panose="020B0606020202030204" pitchFamily="34" charset="0"/>
              </a:rPr>
              <a:t>1608430</a:t>
            </a:r>
            <a:endParaRPr lang="en-US" sz="1200" dirty="0">
              <a:latin typeface="Arial Narrow" panose="020B0606020202030204" pitchFamily="34" charset="0"/>
            </a:endParaRPr>
          </a:p>
          <a:p>
            <a:pPr>
              <a:buFont typeface="+mj-lt"/>
              <a:buAutoNum type="arabicParenR"/>
            </a:pPr>
            <a:r>
              <a:rPr lang="en-US" sz="1200" dirty="0">
                <a:latin typeface="Arial Narrow" panose="020B0606020202030204" pitchFamily="34" charset="0"/>
              </a:rPr>
              <a:t>KPK	</a:t>
            </a:r>
            <a:r>
              <a:rPr lang="en-US" sz="1200" dirty="0" smtClean="0">
                <a:latin typeface="Arial Narrow" panose="020B0606020202030204" pitchFamily="34" charset="0"/>
              </a:rPr>
              <a:t>	12524211</a:t>
            </a:r>
            <a:r>
              <a:rPr lang="en-US" sz="1200" dirty="0">
                <a:latin typeface="Arial Narrow" panose="020B0606020202030204" pitchFamily="34" charset="0"/>
              </a:rPr>
              <a:t>	2897645	</a:t>
            </a:r>
            <a:r>
              <a:rPr lang="en-US" sz="1200" dirty="0" smtClean="0">
                <a:latin typeface="Arial Narrow" panose="020B0606020202030204" pitchFamily="34" charset="0"/>
              </a:rPr>
              <a:t>        12367532	2706563</a:t>
            </a:r>
            <a:endParaRPr lang="en-US" sz="1200" dirty="0">
              <a:latin typeface="Arial Narrow" panose="020B0606020202030204" pitchFamily="34" charset="0"/>
            </a:endParaRPr>
          </a:p>
          <a:p>
            <a:pPr>
              <a:buFont typeface="+mj-lt"/>
              <a:buAutoNum type="arabicParenR"/>
            </a:pPr>
            <a:r>
              <a:rPr lang="en-US" sz="1200" dirty="0" smtClean="0">
                <a:latin typeface="Arial Narrow" panose="020B0606020202030204" pitchFamily="34" charset="0"/>
              </a:rPr>
              <a:t>KPK/FATA	</a:t>
            </a:r>
            <a:r>
              <a:rPr lang="en-US" sz="1200" dirty="0">
                <a:latin typeface="Arial Narrow" panose="020B0606020202030204" pitchFamily="34" charset="0"/>
              </a:rPr>
              <a:t>	2344159	73438	 </a:t>
            </a:r>
            <a:r>
              <a:rPr lang="en-US" sz="1200" dirty="0" smtClean="0">
                <a:latin typeface="Arial Narrow" panose="020B0606020202030204" pitchFamily="34" charset="0"/>
              </a:rPr>
              <a:t>       2243307	</a:t>
            </a:r>
            <a:r>
              <a:rPr lang="en-US" sz="1200" dirty="0">
                <a:latin typeface="Arial Narrow" panose="020B0606020202030204" pitchFamily="34" charset="0"/>
              </a:rPr>
              <a:t>	</a:t>
            </a:r>
            <a:r>
              <a:rPr lang="en-US" sz="1200" dirty="0" smtClean="0">
                <a:latin typeface="Arial Narrow" panose="020B0606020202030204" pitchFamily="34" charset="0"/>
              </a:rPr>
              <a:t>66406</a:t>
            </a:r>
            <a:endParaRPr lang="en-US" sz="1200" dirty="0">
              <a:latin typeface="Arial Narrow" panose="020B0606020202030204" pitchFamily="34" charset="0"/>
            </a:endParaRPr>
          </a:p>
          <a:p>
            <a:pPr>
              <a:buFont typeface="+mj-lt"/>
              <a:buAutoNum type="arabicParenR"/>
            </a:pPr>
            <a:r>
              <a:rPr lang="en-US" sz="1200" dirty="0">
                <a:latin typeface="Arial Narrow" panose="020B0606020202030204" pitchFamily="34" charset="0"/>
              </a:rPr>
              <a:t>PUNJAB	</a:t>
            </a:r>
            <a:r>
              <a:rPr lang="en-US" sz="1200" dirty="0" smtClean="0">
                <a:latin typeface="Arial Narrow" panose="020B0606020202030204" pitchFamily="34" charset="0"/>
              </a:rPr>
              <a:t>	34695963</a:t>
            </a:r>
            <a:r>
              <a:rPr lang="en-US" sz="1200" dirty="0">
                <a:latin typeface="Arial Narrow" panose="020B0606020202030204" pitchFamily="34" charset="0"/>
              </a:rPr>
              <a:t>	</a:t>
            </a:r>
            <a:r>
              <a:rPr lang="en-US" sz="1200" dirty="0" smtClean="0">
                <a:latin typeface="Arial Narrow" panose="020B0606020202030204" pitchFamily="34" charset="0"/>
              </a:rPr>
              <a:t>20743951</a:t>
            </a:r>
            <a:r>
              <a:rPr lang="en-US" sz="1200" dirty="0">
                <a:latin typeface="Arial Narrow" panose="020B0606020202030204" pitchFamily="34" charset="0"/>
              </a:rPr>
              <a:t>	</a:t>
            </a:r>
            <a:r>
              <a:rPr lang="en-US" sz="1200" dirty="0" smtClean="0">
                <a:latin typeface="Arial Narrow" panose="020B0606020202030204" pitchFamily="34" charset="0"/>
              </a:rPr>
              <a:t>         33961383                    19640941</a:t>
            </a:r>
            <a:endParaRPr lang="en-US" sz="1200" dirty="0">
              <a:latin typeface="Arial Narrow" panose="020B0606020202030204" pitchFamily="34" charset="0"/>
            </a:endParaRPr>
          </a:p>
          <a:p>
            <a:pPr>
              <a:buFont typeface="+mj-lt"/>
              <a:buAutoNum type="arabicParenR"/>
            </a:pPr>
            <a:r>
              <a:rPr lang="en-US" sz="1200" dirty="0">
                <a:latin typeface="Arial Narrow" panose="020B0606020202030204" pitchFamily="34" charset="0"/>
              </a:rPr>
              <a:t>SINDH	</a:t>
            </a:r>
            <a:r>
              <a:rPr lang="en-US" sz="1200" dirty="0" smtClean="0">
                <a:latin typeface="Arial Narrow" panose="020B0606020202030204" pitchFamily="34" charset="0"/>
              </a:rPr>
              <a:t>	11922521</a:t>
            </a:r>
            <a:r>
              <a:rPr lang="en-US" sz="1200" dirty="0">
                <a:latin typeface="Arial Narrow" panose="020B0606020202030204" pitchFamily="34" charset="0"/>
              </a:rPr>
              <a:t>	</a:t>
            </a:r>
            <a:r>
              <a:rPr lang="en-US" sz="1200" dirty="0" smtClean="0">
                <a:latin typeface="Arial Narrow" panose="020B0606020202030204" pitchFamily="34" charset="0"/>
              </a:rPr>
              <a:t>12948294</a:t>
            </a:r>
            <a:r>
              <a:rPr lang="en-US" sz="1200" dirty="0">
                <a:latin typeface="Arial Narrow" panose="020B0606020202030204" pitchFamily="34" charset="0"/>
              </a:rPr>
              <a:t>	</a:t>
            </a:r>
            <a:r>
              <a:rPr lang="en-US" sz="1200" dirty="0" smtClean="0">
                <a:latin typeface="Arial Narrow" panose="020B0606020202030204" pitchFamily="34" charset="0"/>
              </a:rPr>
              <a:t>         11086973	11880533</a:t>
            </a:r>
          </a:p>
          <a:p>
            <a:pPr marL="0" indent="0">
              <a:buNone/>
            </a:pPr>
            <a:endParaRPr lang="en-US" sz="1200" dirty="0">
              <a:latin typeface="Arial Narrow" panose="020B0606020202030204" pitchFamily="34" charset="0"/>
            </a:endParaRPr>
          </a:p>
          <a:p>
            <a:pPr marL="0" indent="0">
              <a:buNone/>
            </a:pPr>
            <a:endParaRPr lang="en-US" sz="1200" dirty="0" smtClean="0">
              <a:latin typeface="Arial Narrow" panose="020B0606020202030204" pitchFamily="34" charset="0"/>
            </a:endParaRPr>
          </a:p>
          <a:p>
            <a:pPr marL="0" indent="0">
              <a:buNone/>
            </a:pPr>
            <a:r>
              <a:rPr lang="en-US" sz="1200" b="1" dirty="0">
                <a:latin typeface="Arial Narrow" panose="020B0606020202030204" pitchFamily="34" charset="0"/>
              </a:rPr>
              <a:t>PROVINCE </a:t>
            </a:r>
            <a:r>
              <a:rPr lang="en-US" sz="1200" b="1" dirty="0" smtClean="0">
                <a:latin typeface="Arial Narrow" panose="020B0606020202030204" pitchFamily="34" charset="0"/>
              </a:rPr>
              <a:t>			TOTAL MALE	</a:t>
            </a:r>
            <a:r>
              <a:rPr lang="en-US" sz="1200" b="1" dirty="0">
                <a:latin typeface="Arial Narrow" panose="020B0606020202030204" pitchFamily="34" charset="0"/>
              </a:rPr>
              <a:t>	TOTAL </a:t>
            </a:r>
            <a:r>
              <a:rPr lang="en-US" sz="1200" b="1" dirty="0" smtClean="0">
                <a:latin typeface="Arial Narrow" panose="020B0606020202030204" pitchFamily="34" charset="0"/>
              </a:rPr>
              <a:t>FEMALE</a:t>
            </a:r>
            <a:endParaRPr lang="en-US" sz="1200" b="1" dirty="0">
              <a:latin typeface="Arial Narrow" panose="020B0606020202030204" pitchFamily="34" charset="0"/>
            </a:endParaRPr>
          </a:p>
          <a:p>
            <a:pPr marL="228600" indent="-228600">
              <a:buFont typeface="+mj-lt"/>
              <a:buAutoNum type="arabicParenR"/>
            </a:pPr>
            <a:r>
              <a:rPr lang="en-US" sz="1200" dirty="0" smtClean="0">
                <a:latin typeface="Arial Narrow" panose="020B0606020202030204" pitchFamily="34" charset="0"/>
              </a:rPr>
              <a:t>BALOCHISTAN		6456689</a:t>
            </a:r>
            <a:r>
              <a:rPr lang="en-US" sz="1200" dirty="0">
                <a:latin typeface="Arial Narrow" panose="020B0606020202030204" pitchFamily="34" charset="0"/>
              </a:rPr>
              <a:t>	</a:t>
            </a:r>
            <a:r>
              <a:rPr lang="en-US" sz="1200" dirty="0" smtClean="0">
                <a:latin typeface="Arial Narrow" panose="020B0606020202030204" pitchFamily="34" charset="0"/>
              </a:rPr>
              <a:t>	5828866</a:t>
            </a:r>
            <a:endParaRPr lang="en-US" sz="1200" dirty="0">
              <a:latin typeface="Arial Narrow" panose="020B0606020202030204" pitchFamily="34" charset="0"/>
            </a:endParaRPr>
          </a:p>
          <a:p>
            <a:pPr marL="228600" indent="-228600">
              <a:buFont typeface="+mj-lt"/>
              <a:buAutoNum type="arabicParenR"/>
            </a:pPr>
            <a:r>
              <a:rPr lang="en-US" sz="1200" dirty="0">
                <a:latin typeface="Arial Narrow" panose="020B0606020202030204" pitchFamily="34" charset="0"/>
              </a:rPr>
              <a:t>KPK	</a:t>
            </a:r>
            <a:r>
              <a:rPr lang="en-US" sz="1200" dirty="0" smtClean="0">
                <a:latin typeface="Arial Narrow" panose="020B0606020202030204" pitchFamily="34" charset="0"/>
              </a:rPr>
              <a:t>		15421856</a:t>
            </a:r>
            <a:r>
              <a:rPr lang="en-US" sz="1200" dirty="0">
                <a:latin typeface="Arial Narrow" panose="020B0606020202030204" pitchFamily="34" charset="0"/>
              </a:rPr>
              <a:t>	</a:t>
            </a:r>
            <a:r>
              <a:rPr lang="en-US" sz="1200" dirty="0" smtClean="0">
                <a:latin typeface="Arial Narrow" panose="020B0606020202030204" pitchFamily="34" charset="0"/>
              </a:rPr>
              <a:t>	15074095</a:t>
            </a:r>
            <a:endParaRPr lang="en-US" sz="1200" dirty="0">
              <a:latin typeface="Arial Narrow" panose="020B0606020202030204" pitchFamily="34" charset="0"/>
            </a:endParaRPr>
          </a:p>
          <a:p>
            <a:pPr marL="228600" indent="-228600">
              <a:buFont typeface="+mj-lt"/>
              <a:buAutoNum type="arabicParenR"/>
            </a:pPr>
            <a:r>
              <a:rPr lang="en-US" sz="1200" dirty="0">
                <a:latin typeface="Arial Narrow" panose="020B0606020202030204" pitchFamily="34" charset="0"/>
              </a:rPr>
              <a:t>KPK/FATA	</a:t>
            </a:r>
            <a:r>
              <a:rPr lang="en-US" sz="1200" dirty="0" smtClean="0">
                <a:latin typeface="Arial Narrow" panose="020B0606020202030204" pitchFamily="34" charset="0"/>
              </a:rPr>
              <a:t>		2417597</a:t>
            </a:r>
            <a:r>
              <a:rPr lang="en-US" sz="1200" dirty="0">
                <a:latin typeface="Arial Narrow" panose="020B0606020202030204" pitchFamily="34" charset="0"/>
              </a:rPr>
              <a:t>	</a:t>
            </a:r>
            <a:r>
              <a:rPr lang="en-US" sz="1200" dirty="0" smtClean="0">
                <a:latin typeface="Arial Narrow" panose="020B0606020202030204" pitchFamily="34" charset="0"/>
              </a:rPr>
              <a:t>	2309713</a:t>
            </a:r>
            <a:endParaRPr lang="en-US" sz="1200" dirty="0">
              <a:latin typeface="Arial Narrow" panose="020B0606020202030204" pitchFamily="34" charset="0"/>
            </a:endParaRPr>
          </a:p>
          <a:p>
            <a:pPr marL="228600" indent="-228600">
              <a:buFont typeface="+mj-lt"/>
              <a:buAutoNum type="arabicParenR"/>
            </a:pPr>
            <a:r>
              <a:rPr lang="en-US" sz="1200" dirty="0">
                <a:latin typeface="Arial Narrow" panose="020B0606020202030204" pitchFamily="34" charset="0"/>
              </a:rPr>
              <a:t>PUNJAB	</a:t>
            </a:r>
            <a:r>
              <a:rPr lang="en-US" sz="1200" dirty="0" smtClean="0">
                <a:latin typeface="Arial Narrow" panose="020B0606020202030204" pitchFamily="34" charset="0"/>
              </a:rPr>
              <a:t>		55439914</a:t>
            </a:r>
            <a:r>
              <a:rPr lang="en-US" sz="1200" dirty="0">
                <a:latin typeface="Arial Narrow" panose="020B0606020202030204" pitchFamily="34" charset="0"/>
              </a:rPr>
              <a:t>	</a:t>
            </a:r>
            <a:r>
              <a:rPr lang="en-US" sz="1200" dirty="0" smtClean="0">
                <a:latin typeface="Arial Narrow" panose="020B0606020202030204" pitchFamily="34" charset="0"/>
              </a:rPr>
              <a:t>	53602324</a:t>
            </a:r>
            <a:endParaRPr lang="en-US" sz="1200" dirty="0">
              <a:latin typeface="Arial Narrow" panose="020B0606020202030204" pitchFamily="34" charset="0"/>
            </a:endParaRPr>
          </a:p>
          <a:p>
            <a:pPr marL="228600" indent="-228600">
              <a:buFont typeface="+mj-lt"/>
              <a:buAutoNum type="arabicParenR"/>
            </a:pPr>
            <a:r>
              <a:rPr lang="en-US" sz="1200" dirty="0">
                <a:latin typeface="Arial Narrow" panose="020B0606020202030204" pitchFamily="34" charset="0"/>
              </a:rPr>
              <a:t>SINDH	</a:t>
            </a:r>
            <a:r>
              <a:rPr lang="en-US" sz="1200" dirty="0" smtClean="0">
                <a:latin typeface="Arial Narrow" panose="020B0606020202030204" pitchFamily="34" charset="0"/>
              </a:rPr>
              <a:t>		24870815</a:t>
            </a:r>
            <a:r>
              <a:rPr lang="en-US" sz="1200" dirty="0">
                <a:latin typeface="Arial Narrow" panose="020B0606020202030204" pitchFamily="34" charset="0"/>
              </a:rPr>
              <a:t>	</a:t>
            </a:r>
            <a:r>
              <a:rPr lang="en-US" sz="1200" dirty="0" smtClean="0">
                <a:latin typeface="Arial Narrow" panose="020B0606020202030204" pitchFamily="34" charset="0"/>
              </a:rPr>
              <a:t>	22967506</a:t>
            </a:r>
            <a:endParaRPr lang="en-US" sz="1200" dirty="0">
              <a:latin typeface="Arial Narrow" panose="020B0606020202030204" pitchFamily="34" charset="0"/>
            </a:endParaRPr>
          </a:p>
        </p:txBody>
      </p:sp>
    </p:spTree>
    <p:extLst>
      <p:ext uri="{BB962C8B-B14F-4D97-AF65-F5344CB8AC3E}">
        <p14:creationId xmlns:p14="http://schemas.microsoft.com/office/powerpoint/2010/main" val="1118676801"/>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14400" y="914401"/>
            <a:ext cx="7315510" cy="4953000"/>
          </a:xfrm>
        </p:spPr>
      </p:pic>
    </p:spTree>
    <p:extLst>
      <p:ext uri="{BB962C8B-B14F-4D97-AF65-F5344CB8AC3E}">
        <p14:creationId xmlns:p14="http://schemas.microsoft.com/office/powerpoint/2010/main" val="1919492662"/>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219200" y="990600"/>
            <a:ext cx="6968476" cy="5037138"/>
          </a:xfrm>
        </p:spPr>
      </p:pic>
    </p:spTree>
    <p:extLst>
      <p:ext uri="{BB962C8B-B14F-4D97-AF65-F5344CB8AC3E}">
        <p14:creationId xmlns:p14="http://schemas.microsoft.com/office/powerpoint/2010/main" val="4046768976"/>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marL="457200" indent="-457200">
              <a:buFont typeface="Wingdings" panose="05000000000000000000" pitchFamily="2" charset="2"/>
              <a:buChar char="ü"/>
            </a:pPr>
            <a:r>
              <a:rPr lang="en-US" sz="3200" dirty="0"/>
              <a:t> P</a:t>
            </a:r>
            <a:r>
              <a:rPr lang="en-US" sz="3200" dirty="0" smtClean="0"/>
              <a:t>rovince </a:t>
            </a:r>
            <a:r>
              <a:rPr lang="en-US" sz="3200" dirty="0"/>
              <a:t>is the </a:t>
            </a:r>
            <a:r>
              <a:rPr lang="en-US" sz="3200" dirty="0" smtClean="0"/>
              <a:t>Rural </a:t>
            </a:r>
            <a:r>
              <a:rPr lang="en-US" sz="3200" dirty="0"/>
              <a:t>P</a:t>
            </a:r>
            <a:r>
              <a:rPr lang="en-US" sz="3200" dirty="0" smtClean="0"/>
              <a:t>opulation </a:t>
            </a:r>
            <a:r>
              <a:rPr lang="en-US" sz="3200" dirty="0"/>
              <a:t>of all </a:t>
            </a:r>
            <a:r>
              <a:rPr lang="en-US" sz="3200" dirty="0" smtClean="0"/>
              <a:t>Genders </a:t>
            </a:r>
            <a:r>
              <a:rPr lang="en-US" sz="3200" dirty="0"/>
              <a:t>the </a:t>
            </a:r>
            <a:r>
              <a:rPr lang="en-US" sz="3200" dirty="0" smtClean="0"/>
              <a:t>Highest</a:t>
            </a:r>
            <a:endParaRPr lang="en-US" sz="3200" dirty="0"/>
          </a:p>
        </p:txBody>
      </p:sp>
      <p:sp>
        <p:nvSpPr>
          <p:cNvPr id="3" name="Content Placeholder 2"/>
          <p:cNvSpPr>
            <a:spLocks noGrp="1"/>
          </p:cNvSpPr>
          <p:nvPr>
            <p:ph idx="1"/>
          </p:nvPr>
        </p:nvSpPr>
        <p:spPr/>
        <p:txBody>
          <a:bodyPr/>
          <a:lstStyle/>
          <a:p>
            <a:pPr>
              <a:buFont typeface="Wingdings" panose="05000000000000000000" pitchFamily="2" charset="2"/>
              <a:buChar char="ü"/>
            </a:pPr>
            <a:r>
              <a:rPr lang="en-US" dirty="0"/>
              <a:t> PUNJAB the rural population of all Gender is high which is </a:t>
            </a:r>
            <a:r>
              <a:rPr lang="en-US" dirty="0" smtClean="0"/>
              <a:t>68657346</a:t>
            </a:r>
          </a:p>
          <a:p>
            <a:pPr marL="0" indent="0">
              <a:buNone/>
            </a:pPr>
            <a:r>
              <a:rPr lang="en-US" b="1" dirty="0"/>
              <a:t>PROVINCE </a:t>
            </a:r>
            <a:r>
              <a:rPr lang="en-US" b="1" dirty="0" smtClean="0"/>
              <a:t>		ALL SEX(RURAL)</a:t>
            </a:r>
          </a:p>
          <a:p>
            <a:pPr marL="457200" indent="-457200">
              <a:buFont typeface="+mj-lt"/>
              <a:buAutoNum type="arabicParenR"/>
            </a:pPr>
            <a:r>
              <a:rPr lang="en-US" sz="2000" dirty="0" smtClean="0"/>
              <a:t>PUNJAB 			68662922 </a:t>
            </a:r>
          </a:p>
          <a:p>
            <a:pPr marL="457200" indent="-457200">
              <a:buFont typeface="+mj-lt"/>
              <a:buAutoNum type="arabicParenR"/>
            </a:pPr>
            <a:r>
              <a:rPr lang="en-US" sz="2000" dirty="0" smtClean="0"/>
              <a:t>KPK 			24892840 </a:t>
            </a:r>
          </a:p>
          <a:p>
            <a:pPr marL="457200" indent="-457200">
              <a:buFont typeface="+mj-lt"/>
              <a:buAutoNum type="arabicParenR"/>
            </a:pPr>
            <a:r>
              <a:rPr lang="en-US" sz="2000" dirty="0" smtClean="0"/>
              <a:t>SINDH 			23011641 </a:t>
            </a:r>
          </a:p>
          <a:p>
            <a:pPr marL="457200" indent="-457200">
              <a:buFont typeface="+mj-lt"/>
              <a:buAutoNum type="arabicParenR"/>
            </a:pPr>
            <a:r>
              <a:rPr lang="en-US" sz="2000" dirty="0" smtClean="0"/>
              <a:t>BALOCHISTAN		 </a:t>
            </a:r>
            <a:r>
              <a:rPr lang="en-US" sz="2000" dirty="0"/>
              <a:t>8879634 </a:t>
            </a:r>
            <a:endParaRPr lang="en-US" sz="2000" dirty="0" smtClean="0"/>
          </a:p>
          <a:p>
            <a:pPr marL="457200" indent="-457200">
              <a:buFont typeface="+mj-lt"/>
              <a:buAutoNum type="arabicParenR"/>
            </a:pPr>
            <a:r>
              <a:rPr lang="en-US" sz="2000" dirty="0" smtClean="0"/>
              <a:t>KPK/FATA 			4587753</a:t>
            </a:r>
            <a:endParaRPr lang="en-US" sz="2000" dirty="0"/>
          </a:p>
        </p:txBody>
      </p:sp>
    </p:spTree>
    <p:extLst>
      <p:ext uri="{BB962C8B-B14F-4D97-AF65-F5344CB8AC3E}">
        <p14:creationId xmlns:p14="http://schemas.microsoft.com/office/powerpoint/2010/main" val="3653409479"/>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219200" y="685800"/>
            <a:ext cx="6934200" cy="5257799"/>
          </a:xfrm>
        </p:spPr>
      </p:pic>
    </p:spTree>
    <p:extLst>
      <p:ext uri="{BB962C8B-B14F-4D97-AF65-F5344CB8AC3E}">
        <p14:creationId xmlns:p14="http://schemas.microsoft.com/office/powerpoint/2010/main" val="662611176"/>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447800"/>
            <a:ext cx="8229600" cy="1143000"/>
          </a:xfrm>
        </p:spPr>
        <p:txBody>
          <a:bodyPr>
            <a:normAutofit fontScale="90000"/>
          </a:bodyPr>
          <a:lstStyle/>
          <a:p>
            <a:pPr marL="571500" indent="-571500">
              <a:buFont typeface="Wingdings" panose="05000000000000000000" pitchFamily="2" charset="2"/>
              <a:buChar char="ü"/>
            </a:pPr>
            <a:r>
              <a:rPr lang="en-US" dirty="0"/>
              <a:t>Urban vs. Rural population in each province:</a:t>
            </a:r>
            <a:br>
              <a:rPr lang="en-US" dirty="0"/>
            </a:br>
            <a:endParaRPr lang="en-US" dirty="0"/>
          </a:p>
        </p:txBody>
      </p:sp>
      <p:sp>
        <p:nvSpPr>
          <p:cNvPr id="3" name="Content Placeholder 2"/>
          <p:cNvSpPr>
            <a:spLocks noGrp="1"/>
          </p:cNvSpPr>
          <p:nvPr>
            <p:ph idx="1"/>
          </p:nvPr>
        </p:nvSpPr>
        <p:spPr/>
        <p:txBody>
          <a:bodyPr>
            <a:normAutofit/>
          </a:bodyPr>
          <a:lstStyle/>
          <a:p>
            <a:pPr marL="0" indent="0">
              <a:buNone/>
            </a:pPr>
            <a:endParaRPr lang="en-US" sz="1600" dirty="0"/>
          </a:p>
          <a:p>
            <a:pPr marL="0" indent="0">
              <a:buNone/>
            </a:pPr>
            <a:r>
              <a:rPr lang="en-US" sz="1600" b="1" dirty="0"/>
              <a:t>PROVINCE	</a:t>
            </a:r>
            <a:r>
              <a:rPr lang="en-US" sz="1600" b="1" dirty="0" smtClean="0"/>
              <a:t>	ALL </a:t>
            </a:r>
            <a:r>
              <a:rPr lang="en-US" sz="1600" b="1" dirty="0"/>
              <a:t>SEXES (URBAN)	</a:t>
            </a:r>
            <a:r>
              <a:rPr lang="en-US" sz="1600" b="1" dirty="0" smtClean="0"/>
              <a:t>      ALL </a:t>
            </a:r>
            <a:r>
              <a:rPr lang="en-US" sz="1600" b="1" dirty="0"/>
              <a:t>SEXES (RURAL</a:t>
            </a:r>
            <a:r>
              <a:rPr lang="en-US" sz="1600" b="1" dirty="0" smtClean="0"/>
              <a:t>)</a:t>
            </a:r>
            <a:endParaRPr lang="en-US" sz="1600" b="1" dirty="0"/>
          </a:p>
          <a:p>
            <a:pPr marL="0" indent="0">
              <a:buNone/>
            </a:pPr>
            <a:r>
              <a:rPr lang="en-US" sz="1600" dirty="0"/>
              <a:t>BALOCHISTAN	</a:t>
            </a:r>
            <a:r>
              <a:rPr lang="en-US" sz="1600" dirty="0" smtClean="0"/>
              <a:t>	3406701	</a:t>
            </a:r>
            <a:r>
              <a:rPr lang="en-US" sz="1600" dirty="0"/>
              <a:t>	8879634</a:t>
            </a:r>
          </a:p>
          <a:p>
            <a:pPr marL="0" indent="0">
              <a:buNone/>
            </a:pPr>
            <a:r>
              <a:rPr lang="en-US" sz="1600" dirty="0"/>
              <a:t>KPK	</a:t>
            </a:r>
            <a:r>
              <a:rPr lang="en-US" sz="1600" dirty="0" smtClean="0"/>
              <a:t>		5605071</a:t>
            </a:r>
            <a:r>
              <a:rPr lang="en-US" sz="1600" dirty="0"/>
              <a:t>	</a:t>
            </a:r>
            <a:r>
              <a:rPr lang="en-US" sz="1600" dirty="0" smtClean="0"/>
              <a:t>	24892840</a:t>
            </a:r>
            <a:endParaRPr lang="en-US" sz="1600" dirty="0"/>
          </a:p>
          <a:p>
            <a:pPr marL="0" indent="0">
              <a:buNone/>
            </a:pPr>
            <a:r>
              <a:rPr lang="en-US" sz="1600" dirty="0"/>
              <a:t>KPK/FATA	</a:t>
            </a:r>
            <a:r>
              <a:rPr lang="en-US" sz="1600" dirty="0" smtClean="0"/>
              <a:t>		139866</a:t>
            </a:r>
            <a:r>
              <a:rPr lang="en-US" sz="1600" dirty="0"/>
              <a:t>	</a:t>
            </a:r>
            <a:r>
              <a:rPr lang="en-US" sz="1600" dirty="0" smtClean="0"/>
              <a:t>	4587753</a:t>
            </a:r>
            <a:endParaRPr lang="en-US" sz="1600" dirty="0"/>
          </a:p>
          <a:p>
            <a:pPr marL="0" indent="0">
              <a:buNone/>
            </a:pPr>
            <a:r>
              <a:rPr lang="en-US" sz="1600" dirty="0"/>
              <a:t>PUNJAB	</a:t>
            </a:r>
            <a:r>
              <a:rPr lang="en-US" sz="1600" dirty="0" smtClean="0"/>
              <a:t>		40391671</a:t>
            </a:r>
            <a:r>
              <a:rPr lang="en-US" sz="1600" dirty="0"/>
              <a:t>	68662922</a:t>
            </a:r>
          </a:p>
          <a:p>
            <a:pPr marL="0" indent="0">
              <a:buNone/>
            </a:pPr>
            <a:r>
              <a:rPr lang="en-US" sz="1600" dirty="0"/>
              <a:t>SINDH	</a:t>
            </a:r>
            <a:r>
              <a:rPr lang="en-US" sz="1600" dirty="0" smtClean="0"/>
              <a:t>		24832634</a:t>
            </a:r>
            <a:r>
              <a:rPr lang="en-US" sz="1600" dirty="0"/>
              <a:t>	23011641</a:t>
            </a:r>
          </a:p>
        </p:txBody>
      </p:sp>
    </p:spTree>
    <p:extLst>
      <p:ext uri="{BB962C8B-B14F-4D97-AF65-F5344CB8AC3E}">
        <p14:creationId xmlns:p14="http://schemas.microsoft.com/office/powerpoint/2010/main" val="2350863072"/>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90600" y="1066800"/>
            <a:ext cx="7183652" cy="4656138"/>
          </a:xfrm>
        </p:spPr>
      </p:pic>
    </p:spTree>
    <p:extLst>
      <p:ext uri="{BB962C8B-B14F-4D97-AF65-F5344CB8AC3E}">
        <p14:creationId xmlns:p14="http://schemas.microsoft.com/office/powerpoint/2010/main" val="2046668310"/>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990600"/>
            <a:ext cx="6965245" cy="1202485"/>
          </a:xfrm>
        </p:spPr>
        <p:txBody>
          <a:bodyPr>
            <a:noAutofit/>
          </a:bodyPr>
          <a:lstStyle/>
          <a:p>
            <a:pPr marL="457200" indent="-457200">
              <a:buFont typeface="Wingdings" panose="05000000000000000000" pitchFamily="2" charset="2"/>
              <a:buChar char="ü"/>
            </a:pPr>
            <a:r>
              <a:rPr lang="en-US" sz="3200" i="1" dirty="0"/>
              <a:t>The overall sex ratio in each (Female per 1000 males) province is as follows:</a:t>
            </a:r>
            <a:r>
              <a:rPr lang="en-US" sz="3200" dirty="0"/>
              <a:t/>
            </a:r>
            <a:br>
              <a:rPr lang="en-US" sz="3200" dirty="0"/>
            </a:br>
            <a:endParaRPr lang="en-US" sz="3200" dirty="0"/>
          </a:p>
        </p:txBody>
      </p:sp>
      <p:sp>
        <p:nvSpPr>
          <p:cNvPr id="3" name="Content Placeholder 2"/>
          <p:cNvSpPr>
            <a:spLocks noGrp="1"/>
          </p:cNvSpPr>
          <p:nvPr>
            <p:ph idx="1"/>
          </p:nvPr>
        </p:nvSpPr>
        <p:spPr/>
        <p:txBody>
          <a:bodyPr/>
          <a:lstStyle/>
          <a:p>
            <a:pPr marL="0" indent="0" fontAlgn="base">
              <a:buNone/>
            </a:pPr>
            <a:r>
              <a:rPr lang="en-US" b="1" dirty="0" smtClean="0"/>
              <a:t>PROVINCE 		SEX RATIO</a:t>
            </a:r>
            <a:endParaRPr lang="en-US" b="1" dirty="0"/>
          </a:p>
          <a:p>
            <a:pPr marL="457200" indent="-457200" fontAlgn="base">
              <a:buFont typeface="+mj-lt"/>
              <a:buAutoNum type="arabicParenR"/>
            </a:pPr>
            <a:r>
              <a:rPr lang="en-US" dirty="0"/>
              <a:t>PUNJAB: </a:t>
            </a:r>
            <a:r>
              <a:rPr lang="en-US" dirty="0" smtClean="0"/>
              <a:t>			966.85</a:t>
            </a:r>
            <a:endParaRPr lang="en-US" dirty="0"/>
          </a:p>
          <a:p>
            <a:pPr marL="457200" indent="-457200" fontAlgn="base">
              <a:buFont typeface="+mj-lt"/>
              <a:buAutoNum type="arabicParenR"/>
            </a:pPr>
            <a:r>
              <a:rPr lang="en-US" dirty="0"/>
              <a:t>KPK</a:t>
            </a:r>
            <a:r>
              <a:rPr lang="en-US" dirty="0" smtClean="0"/>
              <a:t>:			977.45</a:t>
            </a:r>
            <a:endParaRPr lang="en-US" dirty="0"/>
          </a:p>
          <a:p>
            <a:pPr marL="457200" indent="-457200" fontAlgn="base">
              <a:buFont typeface="+mj-lt"/>
              <a:buAutoNum type="arabicParenR"/>
            </a:pPr>
            <a:r>
              <a:rPr lang="en-US" dirty="0"/>
              <a:t>KPK/FATA: </a:t>
            </a:r>
            <a:r>
              <a:rPr lang="en-US" dirty="0" smtClean="0"/>
              <a:t>		955.38</a:t>
            </a:r>
            <a:endParaRPr lang="en-US" dirty="0"/>
          </a:p>
          <a:p>
            <a:pPr marL="457200" indent="-457200" fontAlgn="base">
              <a:buFont typeface="+mj-lt"/>
              <a:buAutoNum type="arabicParenR"/>
            </a:pPr>
            <a:r>
              <a:rPr lang="en-US" dirty="0"/>
              <a:t>BALOCHISTAN: </a:t>
            </a:r>
            <a:r>
              <a:rPr lang="en-US" dirty="0" smtClean="0"/>
              <a:t>	902.76</a:t>
            </a:r>
            <a:endParaRPr lang="en-US" dirty="0"/>
          </a:p>
          <a:p>
            <a:pPr marL="457200" indent="-457200" fontAlgn="base">
              <a:buFont typeface="+mj-lt"/>
              <a:buAutoNum type="arabicParenR"/>
            </a:pPr>
            <a:r>
              <a:rPr lang="en-US" dirty="0"/>
              <a:t>SINDH: </a:t>
            </a:r>
            <a:r>
              <a:rPr lang="en-US" dirty="0" smtClean="0"/>
              <a:t>			923.47</a:t>
            </a:r>
            <a:endParaRPr lang="en-US" dirty="0"/>
          </a:p>
          <a:p>
            <a:pPr marL="457200" indent="-457200">
              <a:buFont typeface="+mj-lt"/>
              <a:buAutoNum type="arabicParenR"/>
            </a:pPr>
            <a:endParaRPr lang="en-US" dirty="0"/>
          </a:p>
        </p:txBody>
      </p:sp>
    </p:spTree>
    <p:extLst>
      <p:ext uri="{BB962C8B-B14F-4D97-AF65-F5344CB8AC3E}">
        <p14:creationId xmlns:p14="http://schemas.microsoft.com/office/powerpoint/2010/main" val="2517747914"/>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219200" y="1066801"/>
            <a:ext cx="6858000" cy="4656138"/>
          </a:xfrm>
        </p:spPr>
      </p:pic>
    </p:spTree>
    <p:extLst>
      <p:ext uri="{BB962C8B-B14F-4D97-AF65-F5344CB8AC3E}">
        <p14:creationId xmlns:p14="http://schemas.microsoft.com/office/powerpoint/2010/main" val="877255708"/>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571500" indent="-571500">
              <a:buFont typeface="Wingdings" panose="05000000000000000000" pitchFamily="2" charset="2"/>
              <a:buChar char="ü"/>
            </a:pPr>
            <a:r>
              <a:rPr lang="en-US" dirty="0"/>
              <a:t> </a:t>
            </a:r>
            <a:r>
              <a:rPr lang="en-US" dirty="0" smtClean="0"/>
              <a:t>The </a:t>
            </a:r>
            <a:r>
              <a:rPr lang="en-US" dirty="0"/>
              <a:t>S</a:t>
            </a:r>
            <a:r>
              <a:rPr lang="en-US" dirty="0" smtClean="0"/>
              <a:t>ex </a:t>
            </a:r>
            <a:r>
              <a:rPr lang="en-US" dirty="0"/>
              <a:t>R</a:t>
            </a:r>
            <a:r>
              <a:rPr lang="en-US" dirty="0" smtClean="0"/>
              <a:t>atio </a:t>
            </a:r>
            <a:r>
              <a:rPr lang="en-US" dirty="0"/>
              <a:t>differ in </a:t>
            </a:r>
            <a:r>
              <a:rPr lang="en-US" dirty="0" smtClean="0"/>
              <a:t>Urban </a:t>
            </a:r>
            <a:r>
              <a:rPr lang="en-US" dirty="0"/>
              <a:t>and </a:t>
            </a:r>
            <a:r>
              <a:rPr lang="en-US" dirty="0" smtClean="0"/>
              <a:t>Rural </a:t>
            </a:r>
            <a:r>
              <a:rPr lang="en-US" dirty="0"/>
              <a:t>areas</a:t>
            </a:r>
          </a:p>
        </p:txBody>
      </p:sp>
      <p:sp>
        <p:nvSpPr>
          <p:cNvPr id="3" name="Content Placeholder 2"/>
          <p:cNvSpPr>
            <a:spLocks noGrp="1"/>
          </p:cNvSpPr>
          <p:nvPr>
            <p:ph idx="1"/>
          </p:nvPr>
        </p:nvSpPr>
        <p:spPr/>
        <p:txBody>
          <a:bodyPr>
            <a:normAutofit/>
          </a:bodyPr>
          <a:lstStyle/>
          <a:p>
            <a:pPr marL="0" indent="0">
              <a:buNone/>
            </a:pPr>
            <a:r>
              <a:rPr lang="en-US" sz="1600" i="1" dirty="0"/>
              <a:t> The sex ratio (females per 1000 males) is higher in rural areas compared to urban areas for all provinces. For example, in Punjab, the rural sex ratio is 978.83 while the urban is 946.83; in KPK, rural is 987.49 and urban is 934.06.</a:t>
            </a:r>
            <a:endParaRPr lang="en-US" sz="1600" b="1" dirty="0" smtClean="0"/>
          </a:p>
          <a:p>
            <a:pPr marL="0" indent="0">
              <a:buNone/>
            </a:pPr>
            <a:endParaRPr lang="en-US" sz="1600" b="1" dirty="0"/>
          </a:p>
          <a:p>
            <a:pPr marL="0" indent="0">
              <a:buNone/>
            </a:pPr>
            <a:endParaRPr lang="en-US" sz="1600" b="1" dirty="0" smtClean="0"/>
          </a:p>
          <a:p>
            <a:pPr marL="0" indent="0">
              <a:buNone/>
            </a:pPr>
            <a:r>
              <a:rPr lang="en-US" sz="1600" b="1" dirty="0" smtClean="0"/>
              <a:t>PROVINCE 	    SEX </a:t>
            </a:r>
            <a:r>
              <a:rPr lang="en-US" sz="1600" b="1" dirty="0"/>
              <a:t>RATIO URBAN	</a:t>
            </a:r>
            <a:r>
              <a:rPr lang="en-US" sz="1600" b="1" dirty="0" smtClean="0"/>
              <a:t>        SEX </a:t>
            </a:r>
            <a:r>
              <a:rPr lang="en-US" sz="1600" b="1" dirty="0"/>
              <a:t>RATIO </a:t>
            </a:r>
            <a:r>
              <a:rPr lang="en-US" sz="1600" b="1" dirty="0" smtClean="0"/>
              <a:t>RURAL</a:t>
            </a:r>
            <a:r>
              <a:rPr lang="en-US" sz="1600" dirty="0"/>
              <a:t>		</a:t>
            </a:r>
          </a:p>
          <a:p>
            <a:pPr marL="342900" indent="-342900">
              <a:buFont typeface="+mj-lt"/>
              <a:buAutoNum type="arabicParenR"/>
            </a:pPr>
            <a:r>
              <a:rPr lang="en-US" sz="1600" dirty="0"/>
              <a:t>BALOCHISTAN	</a:t>
            </a:r>
            <a:r>
              <a:rPr lang="en-US" sz="1600" dirty="0" smtClean="0"/>
              <a:t>	894.576135</a:t>
            </a:r>
            <a:r>
              <a:rPr lang="en-US" sz="1600" dirty="0"/>
              <a:t>	905.923937</a:t>
            </a:r>
          </a:p>
          <a:p>
            <a:pPr marL="342900" indent="-342900">
              <a:buFont typeface="+mj-lt"/>
              <a:buAutoNum type="arabicParenR"/>
            </a:pPr>
            <a:r>
              <a:rPr lang="en-US" sz="1600" dirty="0"/>
              <a:t>KPK	</a:t>
            </a:r>
            <a:r>
              <a:rPr lang="en-US" sz="1600" dirty="0" smtClean="0"/>
              <a:t>		934.056104</a:t>
            </a:r>
            <a:r>
              <a:rPr lang="en-US" sz="1600" dirty="0"/>
              <a:t>	987.489911</a:t>
            </a:r>
          </a:p>
          <a:p>
            <a:pPr marL="342900" indent="-342900">
              <a:buFont typeface="+mj-lt"/>
              <a:buAutoNum type="arabicParenR"/>
            </a:pPr>
            <a:r>
              <a:rPr lang="en-US" sz="1600" dirty="0"/>
              <a:t>KPK/FATA	</a:t>
            </a:r>
            <a:r>
              <a:rPr lang="en-US" sz="1600" dirty="0" smtClean="0"/>
              <a:t>	904.245758</a:t>
            </a:r>
            <a:r>
              <a:rPr lang="en-US" sz="1600" dirty="0"/>
              <a:t>	956.977321</a:t>
            </a:r>
          </a:p>
          <a:p>
            <a:pPr marL="342900" indent="-342900">
              <a:buFont typeface="+mj-lt"/>
              <a:buAutoNum type="arabicParenR"/>
            </a:pPr>
            <a:r>
              <a:rPr lang="en-US" sz="1600" dirty="0"/>
              <a:t>PUNJAB	</a:t>
            </a:r>
            <a:r>
              <a:rPr lang="en-US" sz="1600" dirty="0" smtClean="0"/>
              <a:t>	946.827391</a:t>
            </a:r>
            <a:r>
              <a:rPr lang="en-US" sz="1600" dirty="0"/>
              <a:t>	978.828084</a:t>
            </a:r>
          </a:p>
          <a:p>
            <a:pPr marL="342900" indent="-342900">
              <a:buFont typeface="+mj-lt"/>
              <a:buAutoNum type="arabicParenR"/>
            </a:pPr>
            <a:r>
              <a:rPr lang="en-US" sz="1600" dirty="0"/>
              <a:t>SINDH	</a:t>
            </a:r>
            <a:r>
              <a:rPr lang="en-US" sz="1600" dirty="0" smtClean="0"/>
              <a:t>		917.536550</a:t>
            </a:r>
            <a:r>
              <a:rPr lang="en-US" sz="1600" dirty="0"/>
              <a:t>	929.918513</a:t>
            </a:r>
          </a:p>
        </p:txBody>
      </p:sp>
    </p:spTree>
    <p:extLst>
      <p:ext uri="{BB962C8B-B14F-4D97-AF65-F5344CB8AC3E}">
        <p14:creationId xmlns:p14="http://schemas.microsoft.com/office/powerpoint/2010/main" val="1622856352"/>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90600" y="1066800"/>
            <a:ext cx="7010400" cy="4960939"/>
          </a:xfrm>
        </p:spPr>
      </p:pic>
    </p:spTree>
    <p:extLst>
      <p:ext uri="{BB962C8B-B14F-4D97-AF65-F5344CB8AC3E}">
        <p14:creationId xmlns:p14="http://schemas.microsoft.com/office/powerpoint/2010/main" val="1780361292"/>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marL="457200" indent="-457200">
              <a:buFont typeface="Wingdings" panose="05000000000000000000" pitchFamily="2" charset="2"/>
              <a:buChar char="ü"/>
            </a:pPr>
            <a:r>
              <a:rPr lang="en-US" sz="2800" dirty="0"/>
              <a:t>A</a:t>
            </a:r>
            <a:r>
              <a:rPr lang="en-US" sz="2800" dirty="0" smtClean="0"/>
              <a:t>verage </a:t>
            </a:r>
            <a:r>
              <a:rPr lang="en-US" sz="2800" dirty="0"/>
              <a:t>H</a:t>
            </a:r>
            <a:r>
              <a:rPr lang="en-US" sz="2800" dirty="0" smtClean="0"/>
              <a:t>ousehold </a:t>
            </a:r>
            <a:r>
              <a:rPr lang="en-US" sz="2800" dirty="0"/>
              <a:t>S</a:t>
            </a:r>
            <a:r>
              <a:rPr lang="en-US" sz="2800" dirty="0" smtClean="0"/>
              <a:t>ize </a:t>
            </a:r>
            <a:r>
              <a:rPr lang="en-US" sz="2800" dirty="0"/>
              <a:t>in </a:t>
            </a:r>
            <a:r>
              <a:rPr lang="en-US" sz="2800" dirty="0" smtClean="0"/>
              <a:t>Each </a:t>
            </a:r>
            <a:r>
              <a:rPr lang="en-US" sz="2800" dirty="0"/>
              <a:t>P</a:t>
            </a:r>
            <a:r>
              <a:rPr lang="en-US" sz="2800" dirty="0" smtClean="0"/>
              <a:t>rovince </a:t>
            </a:r>
            <a:r>
              <a:rPr lang="en-US" sz="2800" dirty="0"/>
              <a:t>(both by Rural and Urban)</a:t>
            </a:r>
          </a:p>
        </p:txBody>
      </p:sp>
      <p:sp>
        <p:nvSpPr>
          <p:cNvPr id="3" name="Content Placeholder 2"/>
          <p:cNvSpPr>
            <a:spLocks noGrp="1"/>
          </p:cNvSpPr>
          <p:nvPr>
            <p:ph idx="1"/>
          </p:nvPr>
        </p:nvSpPr>
        <p:spPr/>
        <p:txBody>
          <a:bodyPr/>
          <a:lstStyle/>
          <a:p>
            <a:pPr marL="0" indent="0" fontAlgn="base">
              <a:buNone/>
            </a:pPr>
            <a:r>
              <a:rPr lang="en-US" i="1" dirty="0"/>
              <a:t>The average household size in each province (by Rural and Urban areas) is:</a:t>
            </a:r>
            <a:endParaRPr lang="en-US" dirty="0"/>
          </a:p>
          <a:p>
            <a:pPr marL="457200" indent="-457200" fontAlgn="base">
              <a:buFont typeface="+mj-lt"/>
              <a:buAutoNum type="arabicParenR"/>
            </a:pPr>
            <a:r>
              <a:rPr lang="en-US" sz="1800" dirty="0"/>
              <a:t>PUNJAB: </a:t>
            </a:r>
            <a:r>
              <a:rPr lang="en-US" sz="1800" dirty="0" smtClean="0"/>
              <a:t>		Rural </a:t>
            </a:r>
            <a:r>
              <a:rPr lang="en-US" sz="1800" dirty="0"/>
              <a:t>6.15</a:t>
            </a:r>
            <a:r>
              <a:rPr lang="en-US" sz="1800" dirty="0" smtClean="0"/>
              <a:t>,	Urban </a:t>
            </a:r>
            <a:r>
              <a:rPr lang="en-US" sz="1800" dirty="0"/>
              <a:t>6.12</a:t>
            </a:r>
          </a:p>
          <a:p>
            <a:pPr marL="457200" indent="-457200" fontAlgn="base">
              <a:buFont typeface="+mj-lt"/>
              <a:buAutoNum type="arabicParenR"/>
            </a:pPr>
            <a:r>
              <a:rPr lang="en-US" sz="1800" dirty="0"/>
              <a:t>SINDH: </a:t>
            </a:r>
            <a:r>
              <a:rPr lang="en-US" sz="1800" dirty="0" smtClean="0"/>
              <a:t>		Rural </a:t>
            </a:r>
            <a:r>
              <a:rPr lang="en-US" sz="1800" dirty="0"/>
              <a:t>4.36</a:t>
            </a:r>
            <a:r>
              <a:rPr lang="en-US" sz="1800" dirty="0" smtClean="0"/>
              <a:t>,	Urban </a:t>
            </a:r>
            <a:r>
              <a:rPr lang="en-US" sz="1800" dirty="0"/>
              <a:t>5.28</a:t>
            </a:r>
          </a:p>
          <a:p>
            <a:pPr marL="457200" indent="-457200" fontAlgn="base">
              <a:buFont typeface="+mj-lt"/>
              <a:buAutoNum type="arabicParenR"/>
            </a:pPr>
            <a:r>
              <a:rPr lang="en-US" sz="1800" dirty="0"/>
              <a:t>KPK: </a:t>
            </a:r>
            <a:r>
              <a:rPr lang="en-US" sz="1800" dirty="0" smtClean="0"/>
              <a:t>		Rural </a:t>
            </a:r>
            <a:r>
              <a:rPr lang="en-US" sz="1800" dirty="0"/>
              <a:t>8.09</a:t>
            </a:r>
            <a:r>
              <a:rPr lang="en-US" sz="1800" dirty="0" smtClean="0"/>
              <a:t>,	Urban </a:t>
            </a:r>
            <a:r>
              <a:rPr lang="en-US" sz="1800" dirty="0"/>
              <a:t>4.30</a:t>
            </a:r>
          </a:p>
          <a:p>
            <a:pPr marL="457200" indent="-457200" fontAlgn="base">
              <a:buFont typeface="+mj-lt"/>
              <a:buAutoNum type="arabicParenR"/>
            </a:pPr>
            <a:r>
              <a:rPr lang="en-US" sz="1800" dirty="0"/>
              <a:t>BALOCHISTAN: </a:t>
            </a:r>
            <a:r>
              <a:rPr lang="en-US" sz="1800" dirty="0" smtClean="0"/>
              <a:t>	Rural </a:t>
            </a:r>
            <a:r>
              <a:rPr lang="en-US" sz="1800" dirty="0"/>
              <a:t>6.60</a:t>
            </a:r>
            <a:r>
              <a:rPr lang="en-US" sz="1800" dirty="0" smtClean="0"/>
              <a:t>,	Urban </a:t>
            </a:r>
            <a:r>
              <a:rPr lang="en-US" sz="1800" dirty="0"/>
              <a:t>2.92</a:t>
            </a:r>
          </a:p>
          <a:p>
            <a:pPr marL="457200" indent="-457200" fontAlgn="base">
              <a:buFont typeface="+mj-lt"/>
              <a:buAutoNum type="arabicParenR"/>
            </a:pPr>
            <a:r>
              <a:rPr lang="en-US" sz="1800" dirty="0"/>
              <a:t>KPK/FATA: </a:t>
            </a:r>
            <a:r>
              <a:rPr lang="en-US" sz="1800" dirty="0" smtClean="0"/>
              <a:t>		Rural </a:t>
            </a:r>
            <a:r>
              <a:rPr lang="en-US" sz="1800" dirty="0"/>
              <a:t>8.68, </a:t>
            </a:r>
            <a:r>
              <a:rPr lang="en-US" sz="1800" dirty="0" smtClean="0"/>
              <a:t>	Urban </a:t>
            </a:r>
            <a:r>
              <a:rPr lang="en-US" sz="1800" dirty="0"/>
              <a:t>0.86</a:t>
            </a:r>
          </a:p>
          <a:p>
            <a:pPr marL="457200" indent="-457200">
              <a:buFont typeface="+mj-lt"/>
              <a:buAutoNum type="arabicParenR"/>
            </a:pPr>
            <a:endParaRPr lang="en-US" dirty="0"/>
          </a:p>
        </p:txBody>
      </p:sp>
    </p:spTree>
    <p:extLst>
      <p:ext uri="{BB962C8B-B14F-4D97-AF65-F5344CB8AC3E}">
        <p14:creationId xmlns:p14="http://schemas.microsoft.com/office/powerpoint/2010/main" val="3721617"/>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marL="457200" indent="-457200">
              <a:buFont typeface="Wingdings" panose="05000000000000000000" pitchFamily="2" charset="2"/>
              <a:buChar char="ü"/>
            </a:pPr>
            <a:r>
              <a:rPr lang="en-US" sz="3200" dirty="0"/>
              <a:t> </a:t>
            </a:r>
            <a:r>
              <a:rPr lang="en-US" sz="3200" dirty="0" smtClean="0"/>
              <a:t>The </a:t>
            </a:r>
            <a:r>
              <a:rPr lang="en-US" sz="3200" dirty="0"/>
              <a:t>average household size differ between rural and urban areas?</a:t>
            </a:r>
          </a:p>
        </p:txBody>
      </p:sp>
      <p:sp>
        <p:nvSpPr>
          <p:cNvPr id="3" name="Content Placeholder 2"/>
          <p:cNvSpPr>
            <a:spLocks noGrp="1"/>
          </p:cNvSpPr>
          <p:nvPr>
            <p:ph idx="1"/>
          </p:nvPr>
        </p:nvSpPr>
        <p:spPr/>
        <p:txBody>
          <a:bodyPr>
            <a:normAutofit/>
          </a:bodyPr>
          <a:lstStyle/>
          <a:p>
            <a:pPr fontAlgn="base">
              <a:buFont typeface="Wingdings" panose="05000000000000000000" pitchFamily="2" charset="2"/>
              <a:buChar char="ü"/>
            </a:pPr>
            <a:r>
              <a:rPr lang="en-US" sz="1800" dirty="0"/>
              <a:t>Difference in Average Household Size (Rural - Urban) </a:t>
            </a:r>
            <a:endParaRPr lang="en-US" sz="1800" dirty="0" smtClean="0"/>
          </a:p>
          <a:p>
            <a:pPr fontAlgn="base">
              <a:buFont typeface="Wingdings" panose="05000000000000000000" pitchFamily="2" charset="2"/>
              <a:buChar char="ü"/>
            </a:pPr>
            <a:endParaRPr lang="en-US" sz="1800" dirty="0"/>
          </a:p>
          <a:p>
            <a:pPr marL="0" indent="0" fontAlgn="base">
              <a:buNone/>
            </a:pPr>
            <a:r>
              <a:rPr lang="en-US" sz="1800" b="1" dirty="0" smtClean="0"/>
              <a:t>PROVINCE</a:t>
            </a:r>
            <a:r>
              <a:rPr lang="en-US" sz="1800" dirty="0" smtClean="0"/>
              <a:t> 		</a:t>
            </a:r>
            <a:r>
              <a:rPr lang="en-US" sz="1800" b="1" dirty="0" smtClean="0"/>
              <a:t>AVERAGE HOUSEHOLD</a:t>
            </a:r>
            <a:endParaRPr lang="en-US" sz="1800" dirty="0" smtClean="0"/>
          </a:p>
          <a:p>
            <a:pPr marL="342900" indent="-342900" fontAlgn="base">
              <a:buFont typeface="+mj-lt"/>
              <a:buAutoNum type="arabicParenR"/>
            </a:pPr>
            <a:r>
              <a:rPr lang="en-US" sz="1800" dirty="0" smtClean="0"/>
              <a:t>BALOCHISTAN		 </a:t>
            </a:r>
            <a:r>
              <a:rPr lang="en-US" sz="1800" dirty="0"/>
              <a:t>3.680763 </a:t>
            </a:r>
            <a:endParaRPr lang="en-US" sz="1800" dirty="0" smtClean="0"/>
          </a:p>
          <a:p>
            <a:pPr marL="342900" indent="-342900" fontAlgn="base">
              <a:buFont typeface="+mj-lt"/>
              <a:buAutoNum type="arabicParenR"/>
            </a:pPr>
            <a:r>
              <a:rPr lang="en-US" sz="1800" dirty="0" smtClean="0"/>
              <a:t>KPK			 </a:t>
            </a:r>
            <a:r>
              <a:rPr lang="en-US" sz="1800" dirty="0"/>
              <a:t>3.791549 </a:t>
            </a:r>
            <a:endParaRPr lang="en-US" sz="1800" dirty="0" smtClean="0"/>
          </a:p>
          <a:p>
            <a:pPr marL="342900" indent="-342900" fontAlgn="base">
              <a:buFont typeface="+mj-lt"/>
              <a:buAutoNum type="arabicParenR"/>
            </a:pPr>
            <a:r>
              <a:rPr lang="en-US" sz="1800" dirty="0" smtClean="0"/>
              <a:t>KPK/FATA		 </a:t>
            </a:r>
            <a:r>
              <a:rPr lang="en-US" sz="1800" dirty="0"/>
              <a:t>7.821739 </a:t>
            </a:r>
            <a:endParaRPr lang="en-US" sz="1800" dirty="0" smtClean="0"/>
          </a:p>
          <a:p>
            <a:pPr marL="342900" indent="-342900" fontAlgn="base">
              <a:buFont typeface="+mj-lt"/>
              <a:buAutoNum type="arabicParenR"/>
            </a:pPr>
            <a:r>
              <a:rPr lang="en-US" sz="1800" dirty="0" smtClean="0"/>
              <a:t>PUNJAB		 </a:t>
            </a:r>
            <a:r>
              <a:rPr lang="en-US" sz="1800" dirty="0"/>
              <a:t>0.019441 </a:t>
            </a:r>
            <a:endParaRPr lang="en-US" sz="1800" dirty="0" smtClean="0"/>
          </a:p>
          <a:p>
            <a:pPr marL="342900" indent="-342900" fontAlgn="base">
              <a:buFont typeface="+mj-lt"/>
              <a:buAutoNum type="arabicParenR"/>
            </a:pPr>
            <a:r>
              <a:rPr lang="en-US" sz="1800" dirty="0" smtClean="0"/>
              <a:t>SINDH		 </a:t>
            </a:r>
            <a:r>
              <a:rPr lang="en-US" sz="1800" dirty="0"/>
              <a:t>-0.921533</a:t>
            </a:r>
          </a:p>
          <a:p>
            <a:endParaRPr lang="en-US" sz="1800" dirty="0"/>
          </a:p>
        </p:txBody>
      </p:sp>
    </p:spTree>
    <p:extLst>
      <p:ext uri="{BB962C8B-B14F-4D97-AF65-F5344CB8AC3E}">
        <p14:creationId xmlns:p14="http://schemas.microsoft.com/office/powerpoint/2010/main" val="1438191153"/>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marL="457200" indent="-457200">
              <a:buFont typeface="Wingdings" panose="05000000000000000000" pitchFamily="2" charset="2"/>
              <a:buChar char="ü"/>
            </a:pPr>
            <a:r>
              <a:rPr lang="en-US" sz="3200" dirty="0"/>
              <a:t>T</a:t>
            </a:r>
            <a:r>
              <a:rPr lang="en-US" sz="3200" dirty="0" smtClean="0"/>
              <a:t>he </a:t>
            </a:r>
            <a:r>
              <a:rPr lang="en-US" sz="3200" dirty="0"/>
              <a:t>growth rate of the population in each province from 1998 to 2017</a:t>
            </a:r>
          </a:p>
        </p:txBody>
      </p:sp>
      <p:sp>
        <p:nvSpPr>
          <p:cNvPr id="3" name="Content Placeholder 2"/>
          <p:cNvSpPr>
            <a:spLocks noGrp="1"/>
          </p:cNvSpPr>
          <p:nvPr>
            <p:ph idx="1"/>
          </p:nvPr>
        </p:nvSpPr>
        <p:spPr/>
        <p:txBody>
          <a:bodyPr>
            <a:normAutofit/>
          </a:bodyPr>
          <a:lstStyle/>
          <a:p>
            <a:pPr fontAlgn="base">
              <a:buFont typeface="Wingdings" panose="05000000000000000000" pitchFamily="2" charset="2"/>
              <a:buChar char="ü"/>
            </a:pPr>
            <a:r>
              <a:rPr lang="en-US" sz="1800" dirty="0"/>
              <a:t>Population Growth Rate from 1998 to 2017 by Province: </a:t>
            </a:r>
            <a:endParaRPr lang="en-US" sz="1800" dirty="0" smtClean="0"/>
          </a:p>
          <a:p>
            <a:pPr marL="0" indent="0" fontAlgn="base">
              <a:buNone/>
            </a:pPr>
            <a:endParaRPr lang="en-US" sz="1800" dirty="0"/>
          </a:p>
          <a:p>
            <a:pPr marL="0" indent="0" fontAlgn="base">
              <a:buNone/>
            </a:pPr>
            <a:r>
              <a:rPr lang="en-US" sz="1800" b="1" dirty="0"/>
              <a:t>PROVINCE </a:t>
            </a:r>
            <a:r>
              <a:rPr lang="en-US" sz="1800" b="1" dirty="0" smtClean="0"/>
              <a:t>			GROWTH RATE</a:t>
            </a:r>
          </a:p>
          <a:p>
            <a:pPr marL="342900" indent="-342900" fontAlgn="base">
              <a:buFont typeface="+mj-lt"/>
              <a:buAutoNum type="arabicParenR"/>
            </a:pPr>
            <a:r>
              <a:rPr lang="en-US" sz="1800" dirty="0" smtClean="0"/>
              <a:t>BALOCHISTAN			87.878727 </a:t>
            </a:r>
          </a:p>
          <a:p>
            <a:pPr marL="342900" indent="-342900" fontAlgn="base">
              <a:buFont typeface="+mj-lt"/>
              <a:buAutoNum type="arabicParenR"/>
            </a:pPr>
            <a:r>
              <a:rPr lang="en-US" sz="1800" dirty="0" smtClean="0"/>
              <a:t>KPK					71.564171 </a:t>
            </a:r>
          </a:p>
          <a:p>
            <a:pPr marL="342900" indent="-342900" fontAlgn="base">
              <a:buFont typeface="+mj-lt"/>
              <a:buAutoNum type="arabicParenR"/>
            </a:pPr>
            <a:r>
              <a:rPr lang="en-US" sz="1800" dirty="0" smtClean="0"/>
              <a:t>KPK/FATA 				59.302510 </a:t>
            </a:r>
          </a:p>
          <a:p>
            <a:pPr marL="342900" indent="-342900" fontAlgn="base">
              <a:buFont typeface="+mj-lt"/>
              <a:buAutoNum type="arabicParenR"/>
            </a:pPr>
            <a:r>
              <a:rPr lang="en-US" sz="1800" dirty="0" smtClean="0"/>
              <a:t>PUNJAB				49.380060 </a:t>
            </a:r>
          </a:p>
          <a:p>
            <a:pPr marL="342900" indent="-342900" fontAlgn="base">
              <a:buFont typeface="+mj-lt"/>
              <a:buAutoNum type="arabicParenR"/>
            </a:pPr>
            <a:r>
              <a:rPr lang="en-US" sz="1800" dirty="0" smtClean="0"/>
              <a:t>SINDH				 </a:t>
            </a:r>
            <a:r>
              <a:rPr lang="en-US" sz="1800" dirty="0"/>
              <a:t>57.227651</a:t>
            </a:r>
          </a:p>
          <a:p>
            <a:pPr marL="342900" indent="-342900">
              <a:buFont typeface="+mj-lt"/>
              <a:buAutoNum type="arabicParenR"/>
            </a:pPr>
            <a:endParaRPr lang="en-US" sz="1800" dirty="0"/>
          </a:p>
        </p:txBody>
      </p:sp>
    </p:spTree>
    <p:extLst>
      <p:ext uri="{BB962C8B-B14F-4D97-AF65-F5344CB8AC3E}">
        <p14:creationId xmlns:p14="http://schemas.microsoft.com/office/powerpoint/2010/main" val="384404337"/>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90600" y="762000"/>
            <a:ext cx="7010400" cy="5162931"/>
          </a:xfrm>
        </p:spPr>
      </p:pic>
    </p:spTree>
    <p:extLst>
      <p:ext uri="{BB962C8B-B14F-4D97-AF65-F5344CB8AC3E}">
        <p14:creationId xmlns:p14="http://schemas.microsoft.com/office/powerpoint/2010/main" val="2432229573"/>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571500" indent="-571500">
              <a:buFont typeface="Wingdings" panose="05000000000000000000" pitchFamily="2" charset="2"/>
              <a:buChar char="ü"/>
            </a:pPr>
            <a:r>
              <a:rPr lang="en-US" dirty="0" smtClean="0"/>
              <a:t>SUMMARY</a:t>
            </a:r>
            <a:endParaRPr lang="en-US" dirty="0"/>
          </a:p>
        </p:txBody>
      </p:sp>
      <p:sp>
        <p:nvSpPr>
          <p:cNvPr id="3" name="Content Placeholder 2"/>
          <p:cNvSpPr>
            <a:spLocks noGrp="1"/>
          </p:cNvSpPr>
          <p:nvPr>
            <p:ph idx="1"/>
          </p:nvPr>
        </p:nvSpPr>
        <p:spPr/>
        <p:txBody>
          <a:bodyPr>
            <a:normAutofit fontScale="85000" lnSpcReduction="20000"/>
          </a:bodyPr>
          <a:lstStyle/>
          <a:p>
            <a:pPr marL="0" indent="0" fontAlgn="base">
              <a:buNone/>
            </a:pPr>
            <a:endParaRPr lang="en-US" dirty="0">
              <a:latin typeface="Bahnschrift Condensed" panose="020B0502040204020203" pitchFamily="34" charset="0"/>
            </a:endParaRPr>
          </a:p>
          <a:p>
            <a:pPr marL="0" indent="0" fontAlgn="base">
              <a:buNone/>
            </a:pPr>
            <a:r>
              <a:rPr lang="en-US" b="1" dirty="0">
                <a:latin typeface="Bahnschrift Condensed" panose="020B0502040204020203" pitchFamily="34" charset="0"/>
              </a:rPr>
              <a:t>Summary of the Analysis</a:t>
            </a:r>
          </a:p>
          <a:p>
            <a:pPr marL="0" indent="0" fontAlgn="base">
              <a:buNone/>
            </a:pPr>
            <a:r>
              <a:rPr lang="en-US" dirty="0">
                <a:latin typeface="Bahnschrift Condensed" panose="020B0502040204020203" pitchFamily="34" charset="0"/>
              </a:rPr>
              <a:t>In this analysis I take a look at Pakistan's population and administrative setup using the 2017 census data. Here are the key findings from the analysis</a:t>
            </a:r>
            <a:r>
              <a:rPr lang="en-US" dirty="0" smtClean="0">
                <a:latin typeface="Bahnschrift Condensed" panose="020B0502040204020203" pitchFamily="34" charset="0"/>
              </a:rPr>
              <a:t>:</a:t>
            </a:r>
          </a:p>
          <a:p>
            <a:pPr marL="0" indent="0" fontAlgn="base">
              <a:buNone/>
            </a:pPr>
            <a:endParaRPr lang="en-US" dirty="0">
              <a:latin typeface="Bahnschrift Condensed" panose="020B0502040204020203" pitchFamily="34" charset="0"/>
            </a:endParaRPr>
          </a:p>
          <a:p>
            <a:pPr marL="0" indent="0" fontAlgn="base">
              <a:buNone/>
            </a:pPr>
            <a:r>
              <a:rPr lang="en-US" b="1" dirty="0">
                <a:latin typeface="Bahnschrift Condensed" panose="020B0502040204020203" pitchFamily="34" charset="0"/>
              </a:rPr>
              <a:t>Administrative Units</a:t>
            </a:r>
          </a:p>
          <a:p>
            <a:pPr marL="0" indent="0" fontAlgn="base">
              <a:buNone/>
            </a:pPr>
            <a:r>
              <a:rPr lang="en-US" b="1" dirty="0">
                <a:latin typeface="Bahnschrift Condensed" panose="020B0502040204020203" pitchFamily="34" charset="0"/>
              </a:rPr>
              <a:t>Provinces:</a:t>
            </a:r>
            <a:r>
              <a:rPr lang="en-US" dirty="0">
                <a:latin typeface="Bahnschrift Condensed" panose="020B0502040204020203" pitchFamily="34" charset="0"/>
              </a:rPr>
              <a:t> There are five main provinces/regions: Punjab, Sindh, KPK, Balochistan, and KPK/FATA.</a:t>
            </a:r>
          </a:p>
          <a:p>
            <a:pPr marL="0" indent="0" fontAlgn="base">
              <a:buNone/>
            </a:pPr>
            <a:r>
              <a:rPr lang="en-US" b="1" dirty="0">
                <a:latin typeface="Bahnschrift Condensed" panose="020B0502040204020203" pitchFamily="34" charset="0"/>
              </a:rPr>
              <a:t>Divisions:</a:t>
            </a:r>
            <a:r>
              <a:rPr lang="en-US" dirty="0">
                <a:latin typeface="Bahnschrift Condensed" panose="020B0502040204020203" pitchFamily="34" charset="0"/>
              </a:rPr>
              <a:t> Punjab has the most divisions (9), Sindh and KPK have 7 each, Balochistan has 5, and KPK/FATA also has 5.</a:t>
            </a:r>
          </a:p>
          <a:p>
            <a:pPr marL="0" indent="0" fontAlgn="base">
              <a:buNone/>
            </a:pPr>
            <a:r>
              <a:rPr lang="en-US" b="1" dirty="0">
                <a:latin typeface="Bahnschrift Condensed" panose="020B0502040204020203" pitchFamily="34" charset="0"/>
              </a:rPr>
              <a:t>Districts:</a:t>
            </a:r>
            <a:r>
              <a:rPr lang="en-US" dirty="0">
                <a:latin typeface="Bahnschrift Condensed" panose="020B0502040204020203" pitchFamily="34" charset="0"/>
              </a:rPr>
              <a:t> Punjab has 36 districts, Balochistan 31, Sindh 29, KPK 23, and KPK/FATA 12.</a:t>
            </a:r>
          </a:p>
          <a:p>
            <a:pPr marL="0" indent="0" fontAlgn="base">
              <a:buNone/>
            </a:pPr>
            <a:r>
              <a:rPr lang="en-US" b="1" dirty="0">
                <a:latin typeface="Bahnschrift Condensed" panose="020B0502040204020203" pitchFamily="34" charset="0"/>
              </a:rPr>
              <a:t>Sub-divisions:</a:t>
            </a:r>
            <a:r>
              <a:rPr lang="en-US" dirty="0">
                <a:latin typeface="Bahnschrift Condensed" panose="020B0502040204020203" pitchFamily="34" charset="0"/>
              </a:rPr>
              <a:t> Punjab leads with 143, Sindh has 137, Balochistan 131, KPK 71, and KPK/FATA 46.</a:t>
            </a:r>
          </a:p>
          <a:p>
            <a:pPr marL="0" indent="0">
              <a:buNone/>
            </a:pPr>
            <a:endParaRPr lang="en-US" dirty="0">
              <a:latin typeface="Bahnschrift Condensed" panose="020B0502040204020203" pitchFamily="34" charset="0"/>
            </a:endParaRPr>
          </a:p>
        </p:txBody>
      </p:sp>
    </p:spTree>
    <p:extLst>
      <p:ext uri="{BB962C8B-B14F-4D97-AF65-F5344CB8AC3E}">
        <p14:creationId xmlns:p14="http://schemas.microsoft.com/office/powerpoint/2010/main" val="2491377141"/>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TOTAL POPULATION 2017</a:t>
            </a:r>
            <a:endParaRPr lang="en-US" dirty="0"/>
          </a:p>
        </p:txBody>
      </p:sp>
      <p:sp>
        <p:nvSpPr>
          <p:cNvPr id="3" name="Content Placeholder 2"/>
          <p:cNvSpPr>
            <a:spLocks noGrp="1"/>
          </p:cNvSpPr>
          <p:nvPr>
            <p:ph idx="1"/>
          </p:nvPr>
        </p:nvSpPr>
        <p:spPr/>
        <p:txBody>
          <a:bodyPr/>
          <a:lstStyle/>
          <a:p>
            <a:pPr fontAlgn="base">
              <a:buFont typeface="Wingdings" panose="05000000000000000000" pitchFamily="2" charset="2"/>
              <a:buChar char="ü"/>
            </a:pPr>
            <a:endParaRPr lang="en-US" dirty="0"/>
          </a:p>
          <a:p>
            <a:pPr lvl="1" fontAlgn="base">
              <a:buFont typeface="Wingdings" panose="05000000000000000000" pitchFamily="2" charset="2"/>
              <a:buChar char="ü"/>
            </a:pPr>
            <a:r>
              <a:rPr lang="en-US" dirty="0"/>
              <a:t>Punjab: 109,054,593</a:t>
            </a:r>
          </a:p>
          <a:p>
            <a:pPr lvl="1" fontAlgn="base">
              <a:buFont typeface="Wingdings" panose="05000000000000000000" pitchFamily="2" charset="2"/>
              <a:buChar char="ü"/>
            </a:pPr>
            <a:r>
              <a:rPr lang="en-US" dirty="0"/>
              <a:t>Sindh: 47,844,275</a:t>
            </a:r>
          </a:p>
          <a:p>
            <a:pPr lvl="1" fontAlgn="base">
              <a:buFont typeface="Wingdings" panose="05000000000000000000" pitchFamily="2" charset="2"/>
              <a:buChar char="ü"/>
            </a:pPr>
            <a:r>
              <a:rPr lang="en-US" dirty="0"/>
              <a:t>KPK: 30,497,911</a:t>
            </a:r>
          </a:p>
          <a:p>
            <a:pPr lvl="1" fontAlgn="base">
              <a:buFont typeface="Wingdings" panose="05000000000000000000" pitchFamily="2" charset="2"/>
              <a:buChar char="ü"/>
            </a:pPr>
            <a:r>
              <a:rPr lang="en-US" dirty="0"/>
              <a:t>Balochistan: 12,286,335</a:t>
            </a:r>
          </a:p>
          <a:p>
            <a:pPr lvl="1" fontAlgn="base">
              <a:buFont typeface="Wingdings" panose="05000000000000000000" pitchFamily="2" charset="2"/>
              <a:buChar char="ü"/>
            </a:pPr>
            <a:r>
              <a:rPr lang="en-US" dirty="0"/>
              <a:t>KPK/FATA: 4,727,619</a:t>
            </a:r>
          </a:p>
          <a:p>
            <a:pPr>
              <a:buFont typeface="Wingdings" panose="05000000000000000000" pitchFamily="2" charset="2"/>
              <a:buChar char="ü"/>
            </a:pPr>
            <a:endParaRPr lang="en-US" dirty="0"/>
          </a:p>
        </p:txBody>
      </p:sp>
    </p:spTree>
    <p:extLst>
      <p:ext uri="{BB962C8B-B14F-4D97-AF65-F5344CB8AC3E}">
        <p14:creationId xmlns:p14="http://schemas.microsoft.com/office/powerpoint/2010/main" val="666994388"/>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63040" y="1676400"/>
            <a:ext cx="6196405" cy="4046669"/>
          </a:xfrm>
        </p:spPr>
        <p:txBody>
          <a:bodyPr>
            <a:normAutofit/>
          </a:bodyPr>
          <a:lstStyle/>
          <a:p>
            <a:pPr fontAlgn="base"/>
            <a:r>
              <a:rPr lang="en-US" sz="1800" b="1" dirty="0">
                <a:latin typeface="Arial" panose="020B0604020202020204" pitchFamily="34" charset="0"/>
                <a:cs typeface="Arial" panose="020B0604020202020204" pitchFamily="34" charset="0"/>
              </a:rPr>
              <a:t>Largest Division:</a:t>
            </a:r>
            <a:r>
              <a:rPr lang="en-US" sz="1800" dirty="0">
                <a:latin typeface="Arial" panose="020B0604020202020204" pitchFamily="34" charset="0"/>
                <a:cs typeface="Arial" panose="020B0604020202020204" pitchFamily="34" charset="0"/>
              </a:rPr>
              <a:t> Lahore Division in Punjab has the biggest population: 19,389,856.</a:t>
            </a:r>
          </a:p>
          <a:p>
            <a:pPr fontAlgn="base"/>
            <a:r>
              <a:rPr lang="en-US" sz="1800" b="1" dirty="0">
                <a:latin typeface="Arial" panose="020B0604020202020204" pitchFamily="34" charset="0"/>
                <a:cs typeface="Arial" panose="020B0604020202020204" pitchFamily="34" charset="0"/>
              </a:rPr>
              <a:t>Urban vs Rural:</a:t>
            </a:r>
            <a:r>
              <a:rPr lang="en-US" sz="1800" dirty="0">
                <a:latin typeface="Arial" panose="020B0604020202020204" pitchFamily="34" charset="0"/>
                <a:cs typeface="Arial" panose="020B0604020202020204" pitchFamily="34" charset="0"/>
              </a:rPr>
              <a:t> Punjab and Sindh have a lot of people living in cities, but in most provinces, more people live in villages except Sindh, where it’s almost equal.</a:t>
            </a:r>
          </a:p>
          <a:p>
            <a:pPr fontAlgn="base"/>
            <a:r>
              <a:rPr lang="en-US" sz="1800" b="1" dirty="0">
                <a:latin typeface="Arial" panose="020B0604020202020204" pitchFamily="34" charset="0"/>
                <a:cs typeface="Arial" panose="020B0604020202020204" pitchFamily="34" charset="0"/>
              </a:rPr>
              <a:t>Rural Population:</a:t>
            </a:r>
            <a:r>
              <a:rPr lang="en-US" sz="1800" dirty="0">
                <a:latin typeface="Arial" panose="020B0604020202020204" pitchFamily="34" charset="0"/>
                <a:cs typeface="Arial" panose="020B0604020202020204" pitchFamily="34" charset="0"/>
              </a:rPr>
              <a:t> Punjab has the highest rural population (68,662,922), then KPK (24,892,840), and Sindh (23,011,641).</a:t>
            </a:r>
          </a:p>
          <a:p>
            <a:endParaRPr lang="en-US" sz="1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326267228"/>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47800" y="1676400"/>
            <a:ext cx="6196405" cy="3603812"/>
          </a:xfrm>
        </p:spPr>
        <p:txBody>
          <a:bodyPr>
            <a:noAutofit/>
          </a:bodyPr>
          <a:lstStyle/>
          <a:p>
            <a:pPr fontAlgn="base"/>
            <a:r>
              <a:rPr lang="en-US" sz="1800" dirty="0"/>
              <a:t>Gender Distribution &amp; Sex </a:t>
            </a:r>
            <a:r>
              <a:rPr lang="en-US" sz="1800" dirty="0" smtClean="0"/>
              <a:t>Ratio</a:t>
            </a:r>
            <a:endParaRPr lang="en-US" sz="1800" dirty="0"/>
          </a:p>
          <a:p>
            <a:pPr fontAlgn="base"/>
            <a:r>
              <a:rPr lang="en-US" sz="1800" b="1" dirty="0"/>
              <a:t>Overall:</a:t>
            </a:r>
            <a:r>
              <a:rPr lang="en-US" sz="1800" dirty="0"/>
              <a:t> There are a bit more males than females in every province. For example, in Balochistan, the male/female ratio is about 1.11, and in KPK, it’s about 1.02.</a:t>
            </a:r>
          </a:p>
          <a:p>
            <a:pPr fontAlgn="base"/>
            <a:r>
              <a:rPr lang="en-US" sz="1800" b="1" dirty="0"/>
              <a:t>Sex Ratio (Females per 1000 Males):</a:t>
            </a:r>
            <a:r>
              <a:rPr lang="en-US" sz="1800" dirty="0"/>
              <a:t> Highest in KPK (977), lowest in Balochistan (903).</a:t>
            </a:r>
          </a:p>
          <a:p>
            <a:pPr fontAlgn="base"/>
            <a:r>
              <a:rPr lang="en-US" sz="1800" b="1" dirty="0"/>
              <a:t>Urban vs Rural:</a:t>
            </a:r>
            <a:r>
              <a:rPr lang="en-US" sz="1800" dirty="0"/>
              <a:t> Usually, the sex ratio is higher in rural areas than in cities.</a:t>
            </a:r>
          </a:p>
          <a:p>
            <a:pPr fontAlgn="base"/>
            <a:r>
              <a:rPr lang="en-US" sz="1800" dirty="0"/>
              <a:t>Household Size</a:t>
            </a:r>
          </a:p>
          <a:p>
            <a:pPr fontAlgn="base"/>
            <a:r>
              <a:rPr lang="en-US" sz="1800" b="1" dirty="0"/>
              <a:t>Average Household Size:</a:t>
            </a:r>
            <a:r>
              <a:rPr lang="en-US" sz="1800" dirty="0"/>
              <a:t> People in villages usually live in bigger families. KPK and KPK/FATA have the biggest rural household sizes (8.09 and 8.68).</a:t>
            </a:r>
          </a:p>
          <a:p>
            <a:endParaRPr lang="en-US" sz="1800" dirty="0"/>
          </a:p>
        </p:txBody>
      </p:sp>
    </p:spTree>
    <p:extLst>
      <p:ext uri="{BB962C8B-B14F-4D97-AF65-F5344CB8AC3E}">
        <p14:creationId xmlns:p14="http://schemas.microsoft.com/office/powerpoint/2010/main" val="514431365"/>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63040" y="1295400"/>
            <a:ext cx="6196405" cy="4427669"/>
          </a:xfrm>
        </p:spPr>
        <p:txBody>
          <a:bodyPr>
            <a:normAutofit fontScale="92500" lnSpcReduction="20000"/>
          </a:bodyPr>
          <a:lstStyle/>
          <a:p>
            <a:pPr fontAlgn="base">
              <a:buFont typeface="Wingdings" panose="05000000000000000000" pitchFamily="2" charset="2"/>
              <a:buChar char="ü"/>
            </a:pPr>
            <a:r>
              <a:rPr lang="en-US" b="1" dirty="0" smtClean="0"/>
              <a:t>AREA</a:t>
            </a:r>
            <a:endParaRPr lang="en-US" b="1" dirty="0"/>
          </a:p>
          <a:p>
            <a:pPr fontAlgn="base">
              <a:buFont typeface="Wingdings" panose="05000000000000000000" pitchFamily="2" charset="2"/>
              <a:buChar char="ü"/>
            </a:pPr>
            <a:r>
              <a:rPr lang="en-US" b="1" dirty="0" smtClean="0"/>
              <a:t>Largest </a:t>
            </a:r>
            <a:r>
              <a:rPr lang="en-US" b="1" dirty="0"/>
              <a:t>Province by Area:</a:t>
            </a:r>
            <a:r>
              <a:rPr lang="en-US" dirty="0"/>
              <a:t> Balochistan is the biggest (345,464 sq.km</a:t>
            </a:r>
            <a:r>
              <a:rPr lang="en-US" dirty="0" smtClean="0"/>
              <a:t>).</a:t>
            </a:r>
          </a:p>
          <a:p>
            <a:pPr fontAlgn="base">
              <a:buFont typeface="Wingdings" panose="05000000000000000000" pitchFamily="2" charset="2"/>
              <a:buChar char="ü"/>
            </a:pPr>
            <a:r>
              <a:rPr lang="en-US" b="1" dirty="0" smtClean="0"/>
              <a:t>Smallest by Area:</a:t>
            </a:r>
            <a:r>
              <a:rPr lang="en-US" dirty="0" smtClean="0"/>
              <a:t> KPK/FATA is the smallest (24,529 sq.km).</a:t>
            </a:r>
          </a:p>
          <a:p>
            <a:pPr fontAlgn="base">
              <a:buFont typeface="Wingdings" panose="05000000000000000000" pitchFamily="2" charset="2"/>
              <a:buChar char="ü"/>
            </a:pPr>
            <a:r>
              <a:rPr lang="en-US" dirty="0" smtClean="0"/>
              <a:t>Population Growth</a:t>
            </a:r>
          </a:p>
          <a:p>
            <a:pPr fontAlgn="base">
              <a:buFont typeface="Wingdings" panose="05000000000000000000" pitchFamily="2" charset="2"/>
              <a:buChar char="ü"/>
            </a:pPr>
            <a:r>
              <a:rPr lang="en-US" b="1" dirty="0" smtClean="0"/>
              <a:t>Growth </a:t>
            </a:r>
            <a:r>
              <a:rPr lang="en-US" b="1" dirty="0"/>
              <a:t>Rate (1998-2017):</a:t>
            </a:r>
            <a:endParaRPr lang="en-US" dirty="0"/>
          </a:p>
          <a:p>
            <a:pPr lvl="1" fontAlgn="base">
              <a:buFont typeface="Wingdings" panose="05000000000000000000" pitchFamily="2" charset="2"/>
              <a:buChar char="ü"/>
            </a:pPr>
            <a:r>
              <a:rPr lang="en-US" dirty="0"/>
              <a:t>Balochistan: 87.88%</a:t>
            </a:r>
          </a:p>
          <a:p>
            <a:pPr lvl="1" fontAlgn="base">
              <a:buFont typeface="Wingdings" panose="05000000000000000000" pitchFamily="2" charset="2"/>
              <a:buChar char="ü"/>
            </a:pPr>
            <a:r>
              <a:rPr lang="en-US" dirty="0"/>
              <a:t>KPK: 71.56%</a:t>
            </a:r>
          </a:p>
          <a:p>
            <a:pPr lvl="1" fontAlgn="base">
              <a:buFont typeface="Wingdings" panose="05000000000000000000" pitchFamily="2" charset="2"/>
              <a:buChar char="ü"/>
            </a:pPr>
            <a:r>
              <a:rPr lang="en-US" dirty="0"/>
              <a:t>KPK/FATA: 59.30%</a:t>
            </a:r>
          </a:p>
          <a:p>
            <a:pPr lvl="1" fontAlgn="base">
              <a:buFont typeface="Wingdings" panose="05000000000000000000" pitchFamily="2" charset="2"/>
              <a:buChar char="ü"/>
            </a:pPr>
            <a:r>
              <a:rPr lang="en-US" dirty="0"/>
              <a:t>Sindh: 57.23%</a:t>
            </a:r>
          </a:p>
          <a:p>
            <a:pPr lvl="1" fontAlgn="base">
              <a:buFont typeface="Wingdings" panose="05000000000000000000" pitchFamily="2" charset="2"/>
              <a:buChar char="ü"/>
            </a:pPr>
            <a:r>
              <a:rPr lang="en-US" dirty="0"/>
              <a:t>Punjab: 49.38%</a:t>
            </a:r>
          </a:p>
          <a:p>
            <a:pPr>
              <a:buFont typeface="Wingdings" panose="05000000000000000000" pitchFamily="2" charset="2"/>
              <a:buChar char="ü"/>
            </a:pPr>
            <a:endParaRPr lang="en-US" dirty="0"/>
          </a:p>
        </p:txBody>
      </p:sp>
    </p:spTree>
    <p:extLst>
      <p:ext uri="{BB962C8B-B14F-4D97-AF65-F5344CB8AC3E}">
        <p14:creationId xmlns:p14="http://schemas.microsoft.com/office/powerpoint/2010/main" val="3565245536"/>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a:bodyPr>
          <a:lstStyle/>
          <a:p>
            <a:pPr marL="0" indent="0" fontAlgn="base">
              <a:buNone/>
            </a:pPr>
            <a:r>
              <a:rPr lang="en-US" b="1" dirty="0"/>
              <a:t>Key </a:t>
            </a:r>
            <a:r>
              <a:rPr lang="en-US" b="1" dirty="0" smtClean="0"/>
              <a:t>Takeaways</a:t>
            </a:r>
            <a:endParaRPr lang="en-US" b="1" dirty="0"/>
          </a:p>
          <a:p>
            <a:pPr fontAlgn="base">
              <a:buFont typeface="Wingdings" panose="05000000000000000000" pitchFamily="2" charset="2"/>
              <a:buChar char="ü"/>
            </a:pPr>
            <a:r>
              <a:rPr lang="en-US" dirty="0"/>
              <a:t>Punjab has the most people and the most districts/divisions.</a:t>
            </a:r>
          </a:p>
          <a:p>
            <a:pPr fontAlgn="base">
              <a:buFont typeface="Wingdings" panose="05000000000000000000" pitchFamily="2" charset="2"/>
              <a:buChar char="ü"/>
            </a:pPr>
            <a:r>
              <a:rPr lang="en-US" dirty="0"/>
              <a:t>Balochistan is huge in area but not many people live there compared to its size.</a:t>
            </a:r>
          </a:p>
          <a:p>
            <a:pPr fontAlgn="base">
              <a:buFont typeface="Wingdings" panose="05000000000000000000" pitchFamily="2" charset="2"/>
              <a:buChar char="ü"/>
            </a:pPr>
            <a:r>
              <a:rPr lang="en-US" dirty="0"/>
              <a:t>Sindh is the most urbanized (lots of people live in cities).</a:t>
            </a:r>
          </a:p>
          <a:p>
            <a:pPr fontAlgn="base">
              <a:buFont typeface="Wingdings" panose="05000000000000000000" pitchFamily="2" charset="2"/>
              <a:buChar char="ü"/>
            </a:pPr>
            <a:r>
              <a:rPr lang="en-US" dirty="0"/>
              <a:t>There are more males than females, especially in Balochistan.</a:t>
            </a:r>
          </a:p>
          <a:p>
            <a:pPr fontAlgn="base">
              <a:buFont typeface="Wingdings" panose="05000000000000000000" pitchFamily="2" charset="2"/>
              <a:buChar char="ü"/>
            </a:pPr>
            <a:r>
              <a:rPr lang="en-US" dirty="0"/>
              <a:t>Population is growing really fast in Balochistan and KPK.</a:t>
            </a:r>
          </a:p>
          <a:p>
            <a:pPr>
              <a:buFont typeface="Wingdings" panose="05000000000000000000" pitchFamily="2" charset="2"/>
              <a:buChar char="ü"/>
            </a:pPr>
            <a:endParaRPr lang="en-US" dirty="0"/>
          </a:p>
        </p:txBody>
      </p:sp>
    </p:spTree>
    <p:extLst>
      <p:ext uri="{BB962C8B-B14F-4D97-AF65-F5344CB8AC3E}">
        <p14:creationId xmlns:p14="http://schemas.microsoft.com/office/powerpoint/2010/main" val="3799947635"/>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rot="-60000">
            <a:off x="2083944" y="1260442"/>
            <a:ext cx="4753247" cy="3083337"/>
          </a:xfrm>
        </p:spPr>
        <p:txBody>
          <a:bodyPr>
            <a:normAutofit/>
          </a:bodyPr>
          <a:lstStyle/>
          <a:p>
            <a:r>
              <a:rPr lang="en-US" sz="7200" dirty="0" smtClean="0">
                <a:latin typeface="Arial Black" panose="020B0A04020102020204" pitchFamily="34" charset="0"/>
              </a:rPr>
              <a:t>THANK </a:t>
            </a:r>
            <a:br>
              <a:rPr lang="en-US" sz="7200" dirty="0" smtClean="0">
                <a:latin typeface="Arial Black" panose="020B0A04020102020204" pitchFamily="34" charset="0"/>
              </a:rPr>
            </a:br>
            <a:r>
              <a:rPr lang="en-US" sz="7200" dirty="0" smtClean="0">
                <a:latin typeface="Arial Black" panose="020B0A04020102020204" pitchFamily="34" charset="0"/>
              </a:rPr>
              <a:t>	YOU</a:t>
            </a:r>
            <a:endParaRPr lang="en-US" sz="7200" dirty="0">
              <a:latin typeface="Arial Black" panose="020B0A04020102020204" pitchFamily="34" charset="0"/>
            </a:endParaRPr>
          </a:p>
        </p:txBody>
      </p:sp>
    </p:spTree>
    <p:extLst>
      <p:ext uri="{BB962C8B-B14F-4D97-AF65-F5344CB8AC3E}">
        <p14:creationId xmlns:p14="http://schemas.microsoft.com/office/powerpoint/2010/main" val="267204950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Flow">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alpha val="48000"/>
                <a:satMod val="105000"/>
              </a:schemeClr>
            </a:outerShdw>
          </a:effectLst>
        </a:effectStyle>
        <a:effectStyle>
          <a:effectLst>
            <a:outerShdw blurRad="57150" dist="38100" dir="5400000" algn="ctr" rotWithShape="0">
              <a:schemeClr val="phClr">
                <a:shade val="9000"/>
                <a:alpha val="48000"/>
                <a:satMod val="105000"/>
              </a:schemeClr>
            </a:outerShdw>
          </a:effectLst>
        </a:effectStyle>
        <a:effectStyle>
          <a:effectLst>
            <a:outerShdw blurRad="57150" dist="38100" dir="5400000" algn="ctr" rotWithShape="0">
              <a:schemeClr val="phClr">
                <a:shade val="9000"/>
                <a:alpha val="48000"/>
                <a:satMod val="105000"/>
              </a:schemeClr>
            </a:outerShdw>
          </a:effectLst>
          <a:scene3d>
            <a:camera prst="orthographicFront">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Flow</Template>
  <TotalTime>575</TotalTime>
  <Words>733</Words>
  <Application>Microsoft Office PowerPoint</Application>
  <PresentationFormat>On-screen Show (4:3)</PresentationFormat>
  <Paragraphs>376</Paragraphs>
  <Slides>57</Slides>
  <Notes>0</Notes>
  <HiddenSlides>0</HiddenSlides>
  <MMClips>0</MMClips>
  <ScaleCrop>false</ScaleCrop>
  <HeadingPairs>
    <vt:vector size="4" baseType="variant">
      <vt:variant>
        <vt:lpstr>Theme</vt:lpstr>
      </vt:variant>
      <vt:variant>
        <vt:i4>1</vt:i4>
      </vt:variant>
      <vt:variant>
        <vt:lpstr>Slide Titles</vt:lpstr>
      </vt:variant>
      <vt:variant>
        <vt:i4>57</vt:i4>
      </vt:variant>
    </vt:vector>
  </HeadingPairs>
  <TitlesOfParts>
    <vt:vector size="58" baseType="lpstr">
      <vt:lpstr>Flow</vt:lpstr>
      <vt:lpstr>NAME : MAIRAJ E MUSTAFA FATHER NAME : JAVED ALI CASTE : SAMOON PHONE NO : 03481342814 PROJECT : PAKISTAN POPULATION TRAINER : SIR MUHAMMAD ALI  </vt:lpstr>
      <vt:lpstr>DATASET INFORMATION</vt:lpstr>
      <vt:lpstr>DATA TYPE</vt:lpstr>
      <vt:lpstr>COLUMNS</vt:lpstr>
      <vt:lpstr>NULL VALUE</vt:lpstr>
      <vt:lpstr>PAKISTAN  DIVISIONS , DISTRICTS, SUB DIVISIONS</vt:lpstr>
      <vt:lpstr>Name of all Provinces</vt:lpstr>
      <vt:lpstr>PowerPoint Presentation</vt:lpstr>
      <vt:lpstr>PowerPoint Presentation</vt:lpstr>
      <vt:lpstr>LARGEST AREA OF PAKISTAN</vt:lpstr>
      <vt:lpstr>COMPREHENSIVE POPULATION SUMMARY   PAKISTAN COUNTRY OVERVIEW    Total Population: 204,410,733   Total Area: 787,779 sq.km   Population Density: 259.48 people/sq.km</vt:lpstr>
      <vt:lpstr>PROVINCE-WISE BREAKDOWN  BALOCHISTAN   Population: 12,286,335   Area: 345,464 sq.km    Density: 35.56 people/sq.km    Urban: 27.7%    Rural: 72.3%   Sex Ratio: 90.3 (females per 100 males)</vt:lpstr>
      <vt:lpstr>KPK   Population: 30,497,911   Area: 74,957 sq.km    Density: 406.87 people/sq.km    Urban: 18.4%   Rural: 81.6%   Sex Ratio: 97.8 (females per 100 males)</vt:lpstr>
      <vt:lpstr>KPK/FATA   Population: 4,727,619   Area: 24,529 sq.km    Density: 192.74 people/sq.km   Urban: 3.0%    Rural: 97.0%   Sex Ratio: 95.5 (females per 100 males)</vt:lpstr>
      <vt:lpstr>PUNJAB     Population: 109,054,593     Area: 202,693 sq.km      Density: 538.03 people/sq.km     Urban: 37.0%     Rural: 63.0%     Sex Ratio: 96.7 (females per 100 males) </vt:lpstr>
      <vt:lpstr> SINDH         Population: 47,844,275     Area: 140,136 sq.km       Density: 341.41 people/sq.km         Urban: 51.9%      Rural: 48.1%      Sex Ratio: 92.3 (females per 100 males)</vt:lpstr>
      <vt:lpstr> Divisions exist within Pakistan</vt:lpstr>
      <vt:lpstr> </vt:lpstr>
      <vt:lpstr>Number of Divisions in each Province</vt:lpstr>
      <vt:lpstr>PowerPoint Presentation</vt:lpstr>
      <vt:lpstr>Number of Districts in each Province</vt:lpstr>
      <vt:lpstr>PowerPoint Presentation</vt:lpstr>
      <vt:lpstr>Number of Sub-divisions in each Province</vt:lpstr>
      <vt:lpstr>PowerPoint Presentation</vt:lpstr>
      <vt:lpstr>The Number of Administrative Units in each Province is as follows: </vt:lpstr>
      <vt:lpstr>PowerPoint Presentation</vt:lpstr>
      <vt:lpstr>Province covers area(sq.km) in Pakistan  TOTAL AREA OF PAKISTAN=787779.1</vt:lpstr>
      <vt:lpstr>PowerPoint Presentation</vt:lpstr>
      <vt:lpstr>SMALLEST VS LARGEST AREA</vt:lpstr>
      <vt:lpstr> Total Population of each Province TOTAL POPULATION OF PAK= 204410733</vt:lpstr>
      <vt:lpstr>PowerPoint Presentation</vt:lpstr>
      <vt:lpstr>The Total Population of Pakistan (2017) (including both rural and urban areas)</vt:lpstr>
      <vt:lpstr>PowerPoint Presentation</vt:lpstr>
      <vt:lpstr>PowerPoint Presentation</vt:lpstr>
      <vt:lpstr>SMALLEST VS LARGEST POPULATION</vt:lpstr>
      <vt:lpstr>Gender Distribution (male/female) in Each Province</vt:lpstr>
      <vt:lpstr>PowerPoint Presentation</vt:lpstr>
      <vt:lpstr>PowerPoint Presentation</vt:lpstr>
      <vt:lpstr> Province is the Rural Population of all Genders the Highest</vt:lpstr>
      <vt:lpstr>PowerPoint Presentation</vt:lpstr>
      <vt:lpstr>Urban vs. Rural population in each province: </vt:lpstr>
      <vt:lpstr>PowerPoint Presentation</vt:lpstr>
      <vt:lpstr>The overall sex ratio in each (Female per 1000 males) province is as follows: </vt:lpstr>
      <vt:lpstr>PowerPoint Presentation</vt:lpstr>
      <vt:lpstr> The Sex Ratio differ in Urban and Rural areas</vt:lpstr>
      <vt:lpstr>PowerPoint Presentation</vt:lpstr>
      <vt:lpstr>Average Household Size in Each Province (both by Rural and Urban)</vt:lpstr>
      <vt:lpstr> The average household size differ between rural and urban areas?</vt:lpstr>
      <vt:lpstr>The growth rate of the population in each province from 1998 to 2017</vt:lpstr>
      <vt:lpstr>PowerPoint Presentation</vt:lpstr>
      <vt:lpstr>SUMMARY</vt:lpstr>
      <vt:lpstr>TOTAL POPULATION 2017</vt:lpstr>
      <vt:lpstr>PowerPoint Presentation</vt:lpstr>
      <vt:lpstr>PowerPoint Presentation</vt:lpstr>
      <vt:lpstr>PowerPoint Presentation</vt:lpstr>
      <vt:lpstr>PowerPoint Presentation</vt:lpstr>
      <vt:lpstr>THANK   YOU</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 Descriptive Analysis: What the Data Shows</dc:title>
  <dc:creator>ACI</dc:creator>
  <cp:lastModifiedBy>ACI</cp:lastModifiedBy>
  <cp:revision>39</cp:revision>
  <dcterms:created xsi:type="dcterms:W3CDTF">2025-11-07T06:33:30Z</dcterms:created>
  <dcterms:modified xsi:type="dcterms:W3CDTF">2025-11-13T06:49:53Z</dcterms:modified>
</cp:coreProperties>
</file>